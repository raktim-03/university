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6" r:id="rId4"/>
    <p:sldId id="268" r:id="rId5"/>
    <p:sldId id="270" r:id="rId6"/>
    <p:sldId id="271" r:id="rId7"/>
    <p:sldId id="272" r:id="rId8"/>
    <p:sldId id="267" r:id="rId9"/>
    <p:sldId id="269" r:id="rId10"/>
    <p:sldId id="273" r:id="rId11"/>
    <p:sldId id="258" r:id="rId12"/>
    <p:sldId id="260" r:id="rId13"/>
    <p:sldId id="259" r:id="rId14"/>
    <p:sldId id="261" r:id="rId15"/>
    <p:sldId id="263" r:id="rId16"/>
    <p:sldId id="262" r:id="rId17"/>
    <p:sldId id="26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94660"/>
  </p:normalViewPr>
  <p:slideViewPr>
    <p:cSldViewPr snapToGrid="0">
      <p:cViewPr varScale="1">
        <p:scale>
          <a:sx n="78" d="100"/>
          <a:sy n="78" d="100"/>
        </p:scale>
        <p:origin x="835"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C7DCA-E677-9BDB-7EB4-470A70FD886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4F465F4-9C97-0B12-7DD5-A7CF54D5411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F93604D-F4ED-35DF-C6A9-2B8B2DE70EFA}"/>
              </a:ext>
            </a:extLst>
          </p:cNvPr>
          <p:cNvSpPr>
            <a:spLocks noGrp="1"/>
          </p:cNvSpPr>
          <p:nvPr>
            <p:ph type="dt" sz="half" idx="10"/>
          </p:nvPr>
        </p:nvSpPr>
        <p:spPr/>
        <p:txBody>
          <a:bodyPr/>
          <a:lstStyle/>
          <a:p>
            <a:fld id="{CEBF397D-D992-461C-AB93-C236F4168EFF}" type="datetimeFigureOut">
              <a:rPr lang="en-IN" smtClean="0"/>
              <a:t>13-03-2025</a:t>
            </a:fld>
            <a:endParaRPr lang="en-IN"/>
          </a:p>
        </p:txBody>
      </p:sp>
      <p:sp>
        <p:nvSpPr>
          <p:cNvPr id="5" name="Footer Placeholder 4">
            <a:extLst>
              <a:ext uri="{FF2B5EF4-FFF2-40B4-BE49-F238E27FC236}">
                <a16:creationId xmlns:a16="http://schemas.microsoft.com/office/drawing/2014/main" id="{A8BDDB44-AE48-3348-C56A-7FA47D984EB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887B7EF-2A88-F840-AF75-3EE9D7BF4867}"/>
              </a:ext>
            </a:extLst>
          </p:cNvPr>
          <p:cNvSpPr>
            <a:spLocks noGrp="1"/>
          </p:cNvSpPr>
          <p:nvPr>
            <p:ph type="sldNum" sz="quarter" idx="12"/>
          </p:nvPr>
        </p:nvSpPr>
        <p:spPr/>
        <p:txBody>
          <a:bodyPr/>
          <a:lstStyle/>
          <a:p>
            <a:fld id="{C0F26613-1B1F-4026-AAE3-3C22B8D6C4D6}" type="slidenum">
              <a:rPr lang="en-IN" smtClean="0"/>
              <a:t>‹#›</a:t>
            </a:fld>
            <a:endParaRPr lang="en-IN"/>
          </a:p>
        </p:txBody>
      </p:sp>
    </p:spTree>
    <p:extLst>
      <p:ext uri="{BB962C8B-B14F-4D97-AF65-F5344CB8AC3E}">
        <p14:creationId xmlns:p14="http://schemas.microsoft.com/office/powerpoint/2010/main" val="21528078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EBF91-C1E2-3B88-A775-3B1A55992F1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92A1B7A-1DD1-309E-531D-D5EA9DE6360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9115F6C-8527-75BD-212A-3D4027E87B14}"/>
              </a:ext>
            </a:extLst>
          </p:cNvPr>
          <p:cNvSpPr>
            <a:spLocks noGrp="1"/>
          </p:cNvSpPr>
          <p:nvPr>
            <p:ph type="dt" sz="half" idx="10"/>
          </p:nvPr>
        </p:nvSpPr>
        <p:spPr/>
        <p:txBody>
          <a:bodyPr/>
          <a:lstStyle/>
          <a:p>
            <a:fld id="{CEBF397D-D992-461C-AB93-C236F4168EFF}" type="datetimeFigureOut">
              <a:rPr lang="en-IN" smtClean="0"/>
              <a:t>13-03-2025</a:t>
            </a:fld>
            <a:endParaRPr lang="en-IN"/>
          </a:p>
        </p:txBody>
      </p:sp>
      <p:sp>
        <p:nvSpPr>
          <p:cNvPr id="5" name="Footer Placeholder 4">
            <a:extLst>
              <a:ext uri="{FF2B5EF4-FFF2-40B4-BE49-F238E27FC236}">
                <a16:creationId xmlns:a16="http://schemas.microsoft.com/office/drawing/2014/main" id="{90B4729E-2275-3A83-6200-1AFC6E07965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9556E98-3B0A-C87B-8B54-82343E4A4681}"/>
              </a:ext>
            </a:extLst>
          </p:cNvPr>
          <p:cNvSpPr>
            <a:spLocks noGrp="1"/>
          </p:cNvSpPr>
          <p:nvPr>
            <p:ph type="sldNum" sz="quarter" idx="12"/>
          </p:nvPr>
        </p:nvSpPr>
        <p:spPr/>
        <p:txBody>
          <a:bodyPr/>
          <a:lstStyle/>
          <a:p>
            <a:fld id="{C0F26613-1B1F-4026-AAE3-3C22B8D6C4D6}" type="slidenum">
              <a:rPr lang="en-IN" smtClean="0"/>
              <a:t>‹#›</a:t>
            </a:fld>
            <a:endParaRPr lang="en-IN"/>
          </a:p>
        </p:txBody>
      </p:sp>
    </p:spTree>
    <p:extLst>
      <p:ext uri="{BB962C8B-B14F-4D97-AF65-F5344CB8AC3E}">
        <p14:creationId xmlns:p14="http://schemas.microsoft.com/office/powerpoint/2010/main" val="41309164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1E4D0-2035-AD66-6E4D-D46EC4FB0DA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F2EF9EF-B22F-614B-1C94-4679BCA0FBF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F80DBFC-F4B4-B758-798E-7A07E7A4E413}"/>
              </a:ext>
            </a:extLst>
          </p:cNvPr>
          <p:cNvSpPr>
            <a:spLocks noGrp="1"/>
          </p:cNvSpPr>
          <p:nvPr>
            <p:ph type="dt" sz="half" idx="10"/>
          </p:nvPr>
        </p:nvSpPr>
        <p:spPr/>
        <p:txBody>
          <a:bodyPr/>
          <a:lstStyle/>
          <a:p>
            <a:fld id="{CEBF397D-D992-461C-AB93-C236F4168EFF}" type="datetimeFigureOut">
              <a:rPr lang="en-IN" smtClean="0"/>
              <a:t>13-03-2025</a:t>
            </a:fld>
            <a:endParaRPr lang="en-IN"/>
          </a:p>
        </p:txBody>
      </p:sp>
      <p:sp>
        <p:nvSpPr>
          <p:cNvPr id="5" name="Footer Placeholder 4">
            <a:extLst>
              <a:ext uri="{FF2B5EF4-FFF2-40B4-BE49-F238E27FC236}">
                <a16:creationId xmlns:a16="http://schemas.microsoft.com/office/drawing/2014/main" id="{B9104A6D-6EBA-E050-DA67-9ECF422B495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67EBFC0-565E-545A-D802-C0958CE4AFB4}"/>
              </a:ext>
            </a:extLst>
          </p:cNvPr>
          <p:cNvSpPr>
            <a:spLocks noGrp="1"/>
          </p:cNvSpPr>
          <p:nvPr>
            <p:ph type="sldNum" sz="quarter" idx="12"/>
          </p:nvPr>
        </p:nvSpPr>
        <p:spPr/>
        <p:txBody>
          <a:bodyPr/>
          <a:lstStyle/>
          <a:p>
            <a:fld id="{C0F26613-1B1F-4026-AAE3-3C22B8D6C4D6}" type="slidenum">
              <a:rPr lang="en-IN" smtClean="0"/>
              <a:t>‹#›</a:t>
            </a:fld>
            <a:endParaRPr lang="en-IN"/>
          </a:p>
        </p:txBody>
      </p:sp>
    </p:spTree>
    <p:extLst>
      <p:ext uri="{BB962C8B-B14F-4D97-AF65-F5344CB8AC3E}">
        <p14:creationId xmlns:p14="http://schemas.microsoft.com/office/powerpoint/2010/main" val="37118215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BD600-E86A-16C0-4A62-96E6B3F72AB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6D238D7-C657-997E-CE12-F86DCFD1257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92A0C28-F513-97ED-AF63-BA729D7E47D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2215EB6-213E-BBAE-E4A8-327CDC8C360A}"/>
              </a:ext>
            </a:extLst>
          </p:cNvPr>
          <p:cNvSpPr>
            <a:spLocks noGrp="1"/>
          </p:cNvSpPr>
          <p:nvPr>
            <p:ph type="dt" sz="half" idx="10"/>
          </p:nvPr>
        </p:nvSpPr>
        <p:spPr/>
        <p:txBody>
          <a:bodyPr/>
          <a:lstStyle/>
          <a:p>
            <a:fld id="{CEBF397D-D992-461C-AB93-C236F4168EFF}" type="datetimeFigureOut">
              <a:rPr lang="en-IN" smtClean="0"/>
              <a:t>13-03-2025</a:t>
            </a:fld>
            <a:endParaRPr lang="en-IN"/>
          </a:p>
        </p:txBody>
      </p:sp>
      <p:sp>
        <p:nvSpPr>
          <p:cNvPr id="6" name="Footer Placeholder 5">
            <a:extLst>
              <a:ext uri="{FF2B5EF4-FFF2-40B4-BE49-F238E27FC236}">
                <a16:creationId xmlns:a16="http://schemas.microsoft.com/office/drawing/2014/main" id="{739DCEB6-2562-227C-DBB0-72C1F773498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5404E0B-748E-88D1-A35C-34162B5847F2}"/>
              </a:ext>
            </a:extLst>
          </p:cNvPr>
          <p:cNvSpPr>
            <a:spLocks noGrp="1"/>
          </p:cNvSpPr>
          <p:nvPr>
            <p:ph type="sldNum" sz="quarter" idx="12"/>
          </p:nvPr>
        </p:nvSpPr>
        <p:spPr/>
        <p:txBody>
          <a:bodyPr/>
          <a:lstStyle/>
          <a:p>
            <a:fld id="{C0F26613-1B1F-4026-AAE3-3C22B8D6C4D6}" type="slidenum">
              <a:rPr lang="en-IN" smtClean="0"/>
              <a:t>‹#›</a:t>
            </a:fld>
            <a:endParaRPr lang="en-IN"/>
          </a:p>
        </p:txBody>
      </p:sp>
    </p:spTree>
    <p:extLst>
      <p:ext uri="{BB962C8B-B14F-4D97-AF65-F5344CB8AC3E}">
        <p14:creationId xmlns:p14="http://schemas.microsoft.com/office/powerpoint/2010/main" val="25727539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679E6-9124-B6D4-FC79-22E480C7030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7974E5C-D952-1E04-DEFD-85C3E9680FB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9638D80-E18A-5798-7422-F4BB078EE71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0618840-0EDE-1871-2728-FCEC8AA2698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722DAFE-D4F0-4262-B54F-05B8D852F21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2085039-4B63-CB68-3BA9-5932515432A4}"/>
              </a:ext>
            </a:extLst>
          </p:cNvPr>
          <p:cNvSpPr>
            <a:spLocks noGrp="1"/>
          </p:cNvSpPr>
          <p:nvPr>
            <p:ph type="dt" sz="half" idx="10"/>
          </p:nvPr>
        </p:nvSpPr>
        <p:spPr/>
        <p:txBody>
          <a:bodyPr/>
          <a:lstStyle/>
          <a:p>
            <a:fld id="{CEBF397D-D992-461C-AB93-C236F4168EFF}" type="datetimeFigureOut">
              <a:rPr lang="en-IN" smtClean="0"/>
              <a:t>13-03-2025</a:t>
            </a:fld>
            <a:endParaRPr lang="en-IN"/>
          </a:p>
        </p:txBody>
      </p:sp>
      <p:sp>
        <p:nvSpPr>
          <p:cNvPr id="8" name="Footer Placeholder 7">
            <a:extLst>
              <a:ext uri="{FF2B5EF4-FFF2-40B4-BE49-F238E27FC236}">
                <a16:creationId xmlns:a16="http://schemas.microsoft.com/office/drawing/2014/main" id="{3B66D830-2099-852F-1B31-70934DCAE44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7D0DB9F-8883-B08C-3638-D5D4EA26CCF4}"/>
              </a:ext>
            </a:extLst>
          </p:cNvPr>
          <p:cNvSpPr>
            <a:spLocks noGrp="1"/>
          </p:cNvSpPr>
          <p:nvPr>
            <p:ph type="sldNum" sz="quarter" idx="12"/>
          </p:nvPr>
        </p:nvSpPr>
        <p:spPr/>
        <p:txBody>
          <a:bodyPr/>
          <a:lstStyle/>
          <a:p>
            <a:fld id="{C0F26613-1B1F-4026-AAE3-3C22B8D6C4D6}" type="slidenum">
              <a:rPr lang="en-IN" smtClean="0"/>
              <a:t>‹#›</a:t>
            </a:fld>
            <a:endParaRPr lang="en-IN"/>
          </a:p>
        </p:txBody>
      </p:sp>
    </p:spTree>
    <p:extLst>
      <p:ext uri="{BB962C8B-B14F-4D97-AF65-F5344CB8AC3E}">
        <p14:creationId xmlns:p14="http://schemas.microsoft.com/office/powerpoint/2010/main" val="215036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81D6D9-CDAA-6B6F-0673-789C1624E4C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572742A-9190-6C93-24A8-FB0A52E3FEAD}"/>
              </a:ext>
            </a:extLst>
          </p:cNvPr>
          <p:cNvSpPr>
            <a:spLocks noGrp="1"/>
          </p:cNvSpPr>
          <p:nvPr>
            <p:ph type="dt" sz="half" idx="10"/>
          </p:nvPr>
        </p:nvSpPr>
        <p:spPr/>
        <p:txBody>
          <a:bodyPr/>
          <a:lstStyle/>
          <a:p>
            <a:fld id="{CEBF397D-D992-461C-AB93-C236F4168EFF}" type="datetimeFigureOut">
              <a:rPr lang="en-IN" smtClean="0"/>
              <a:t>13-03-2025</a:t>
            </a:fld>
            <a:endParaRPr lang="en-IN"/>
          </a:p>
        </p:txBody>
      </p:sp>
      <p:sp>
        <p:nvSpPr>
          <p:cNvPr id="4" name="Footer Placeholder 3">
            <a:extLst>
              <a:ext uri="{FF2B5EF4-FFF2-40B4-BE49-F238E27FC236}">
                <a16:creationId xmlns:a16="http://schemas.microsoft.com/office/drawing/2014/main" id="{65184B51-FCF7-9547-5263-AC5E307B0A3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8B20570-48B2-4A3D-BEE1-61D401A8A078}"/>
              </a:ext>
            </a:extLst>
          </p:cNvPr>
          <p:cNvSpPr>
            <a:spLocks noGrp="1"/>
          </p:cNvSpPr>
          <p:nvPr>
            <p:ph type="sldNum" sz="quarter" idx="12"/>
          </p:nvPr>
        </p:nvSpPr>
        <p:spPr/>
        <p:txBody>
          <a:bodyPr/>
          <a:lstStyle/>
          <a:p>
            <a:fld id="{C0F26613-1B1F-4026-AAE3-3C22B8D6C4D6}" type="slidenum">
              <a:rPr lang="en-IN" smtClean="0"/>
              <a:t>‹#›</a:t>
            </a:fld>
            <a:endParaRPr lang="en-IN"/>
          </a:p>
        </p:txBody>
      </p:sp>
    </p:spTree>
    <p:extLst>
      <p:ext uri="{BB962C8B-B14F-4D97-AF65-F5344CB8AC3E}">
        <p14:creationId xmlns:p14="http://schemas.microsoft.com/office/powerpoint/2010/main" val="26732769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73C6E07-D0BA-5BD9-E1D5-B5B463293CD0}"/>
              </a:ext>
            </a:extLst>
          </p:cNvPr>
          <p:cNvSpPr>
            <a:spLocks noGrp="1"/>
          </p:cNvSpPr>
          <p:nvPr>
            <p:ph type="dt" sz="half" idx="10"/>
          </p:nvPr>
        </p:nvSpPr>
        <p:spPr/>
        <p:txBody>
          <a:bodyPr/>
          <a:lstStyle/>
          <a:p>
            <a:fld id="{CEBF397D-D992-461C-AB93-C236F4168EFF}" type="datetimeFigureOut">
              <a:rPr lang="en-IN" smtClean="0"/>
              <a:t>13-03-2025</a:t>
            </a:fld>
            <a:endParaRPr lang="en-IN"/>
          </a:p>
        </p:txBody>
      </p:sp>
      <p:sp>
        <p:nvSpPr>
          <p:cNvPr id="3" name="Footer Placeholder 2">
            <a:extLst>
              <a:ext uri="{FF2B5EF4-FFF2-40B4-BE49-F238E27FC236}">
                <a16:creationId xmlns:a16="http://schemas.microsoft.com/office/drawing/2014/main" id="{EF41E67E-E955-D615-FC2C-3D3DF53C52A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A139389-AC6F-B022-2B0D-2D9931A115D3}"/>
              </a:ext>
            </a:extLst>
          </p:cNvPr>
          <p:cNvSpPr>
            <a:spLocks noGrp="1"/>
          </p:cNvSpPr>
          <p:nvPr>
            <p:ph type="sldNum" sz="quarter" idx="12"/>
          </p:nvPr>
        </p:nvSpPr>
        <p:spPr/>
        <p:txBody>
          <a:bodyPr/>
          <a:lstStyle/>
          <a:p>
            <a:fld id="{C0F26613-1B1F-4026-AAE3-3C22B8D6C4D6}" type="slidenum">
              <a:rPr lang="en-IN" smtClean="0"/>
              <a:t>‹#›</a:t>
            </a:fld>
            <a:endParaRPr lang="en-IN"/>
          </a:p>
        </p:txBody>
      </p:sp>
    </p:spTree>
    <p:extLst>
      <p:ext uri="{BB962C8B-B14F-4D97-AF65-F5344CB8AC3E}">
        <p14:creationId xmlns:p14="http://schemas.microsoft.com/office/powerpoint/2010/main" val="32520720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A72CB-FF27-D53B-6A88-EBC51C84BA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8C0BB33-7BC2-CE8D-27D7-D950EACFD79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38C9677-3B96-2434-F4D3-6F8B819E71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D9DA88-F5C7-45B9-0752-997B0B0D1F7B}"/>
              </a:ext>
            </a:extLst>
          </p:cNvPr>
          <p:cNvSpPr>
            <a:spLocks noGrp="1"/>
          </p:cNvSpPr>
          <p:nvPr>
            <p:ph type="dt" sz="half" idx="10"/>
          </p:nvPr>
        </p:nvSpPr>
        <p:spPr/>
        <p:txBody>
          <a:bodyPr/>
          <a:lstStyle/>
          <a:p>
            <a:fld id="{CEBF397D-D992-461C-AB93-C236F4168EFF}" type="datetimeFigureOut">
              <a:rPr lang="en-IN" smtClean="0"/>
              <a:t>13-03-2025</a:t>
            </a:fld>
            <a:endParaRPr lang="en-IN"/>
          </a:p>
        </p:txBody>
      </p:sp>
      <p:sp>
        <p:nvSpPr>
          <p:cNvPr id="6" name="Footer Placeholder 5">
            <a:extLst>
              <a:ext uri="{FF2B5EF4-FFF2-40B4-BE49-F238E27FC236}">
                <a16:creationId xmlns:a16="http://schemas.microsoft.com/office/drawing/2014/main" id="{C45C7C9D-A32B-F433-2906-89B3A7A5C1E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A2096BD-074A-BD66-1A04-D4AF4233044B}"/>
              </a:ext>
            </a:extLst>
          </p:cNvPr>
          <p:cNvSpPr>
            <a:spLocks noGrp="1"/>
          </p:cNvSpPr>
          <p:nvPr>
            <p:ph type="sldNum" sz="quarter" idx="12"/>
          </p:nvPr>
        </p:nvSpPr>
        <p:spPr/>
        <p:txBody>
          <a:bodyPr/>
          <a:lstStyle/>
          <a:p>
            <a:fld id="{C0F26613-1B1F-4026-AAE3-3C22B8D6C4D6}" type="slidenum">
              <a:rPr lang="en-IN" smtClean="0"/>
              <a:t>‹#›</a:t>
            </a:fld>
            <a:endParaRPr lang="en-IN"/>
          </a:p>
        </p:txBody>
      </p:sp>
    </p:spTree>
    <p:extLst>
      <p:ext uri="{BB962C8B-B14F-4D97-AF65-F5344CB8AC3E}">
        <p14:creationId xmlns:p14="http://schemas.microsoft.com/office/powerpoint/2010/main" val="33867355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4BE6C-A492-30DF-850F-A1B9EBFF671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3298A4F-D429-8813-1700-6878289285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2C67C33-7915-634E-6B01-CF50561527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19E8CB-1F94-D945-58DD-ABF721652671}"/>
              </a:ext>
            </a:extLst>
          </p:cNvPr>
          <p:cNvSpPr>
            <a:spLocks noGrp="1"/>
          </p:cNvSpPr>
          <p:nvPr>
            <p:ph type="dt" sz="half" idx="10"/>
          </p:nvPr>
        </p:nvSpPr>
        <p:spPr/>
        <p:txBody>
          <a:bodyPr/>
          <a:lstStyle/>
          <a:p>
            <a:fld id="{CEBF397D-D992-461C-AB93-C236F4168EFF}" type="datetimeFigureOut">
              <a:rPr lang="en-IN" smtClean="0"/>
              <a:t>13-03-2025</a:t>
            </a:fld>
            <a:endParaRPr lang="en-IN"/>
          </a:p>
        </p:txBody>
      </p:sp>
      <p:sp>
        <p:nvSpPr>
          <p:cNvPr id="6" name="Footer Placeholder 5">
            <a:extLst>
              <a:ext uri="{FF2B5EF4-FFF2-40B4-BE49-F238E27FC236}">
                <a16:creationId xmlns:a16="http://schemas.microsoft.com/office/drawing/2014/main" id="{83464A5D-0588-6B49-B9D1-CFCDA40D1A8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1EB2BEA-5A7B-0FBD-BAB3-72E0863C0738}"/>
              </a:ext>
            </a:extLst>
          </p:cNvPr>
          <p:cNvSpPr>
            <a:spLocks noGrp="1"/>
          </p:cNvSpPr>
          <p:nvPr>
            <p:ph type="sldNum" sz="quarter" idx="12"/>
          </p:nvPr>
        </p:nvSpPr>
        <p:spPr/>
        <p:txBody>
          <a:bodyPr/>
          <a:lstStyle/>
          <a:p>
            <a:fld id="{C0F26613-1B1F-4026-AAE3-3C22B8D6C4D6}" type="slidenum">
              <a:rPr lang="en-IN" smtClean="0"/>
              <a:t>‹#›</a:t>
            </a:fld>
            <a:endParaRPr lang="en-IN"/>
          </a:p>
        </p:txBody>
      </p:sp>
    </p:spTree>
    <p:extLst>
      <p:ext uri="{BB962C8B-B14F-4D97-AF65-F5344CB8AC3E}">
        <p14:creationId xmlns:p14="http://schemas.microsoft.com/office/powerpoint/2010/main" val="31351090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3DF1B-0078-8DB9-1FDE-50C07EAA51F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E86D7D5-79EA-1DB6-0C82-5568E6EA9EE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30F9339-6A1A-3981-7195-41E4D8219420}"/>
              </a:ext>
            </a:extLst>
          </p:cNvPr>
          <p:cNvSpPr>
            <a:spLocks noGrp="1"/>
          </p:cNvSpPr>
          <p:nvPr>
            <p:ph type="dt" sz="half" idx="10"/>
          </p:nvPr>
        </p:nvSpPr>
        <p:spPr/>
        <p:txBody>
          <a:bodyPr/>
          <a:lstStyle/>
          <a:p>
            <a:fld id="{CEBF397D-D992-461C-AB93-C236F4168EFF}" type="datetimeFigureOut">
              <a:rPr lang="en-IN" smtClean="0"/>
              <a:t>13-03-2025</a:t>
            </a:fld>
            <a:endParaRPr lang="en-IN"/>
          </a:p>
        </p:txBody>
      </p:sp>
      <p:sp>
        <p:nvSpPr>
          <p:cNvPr id="5" name="Footer Placeholder 4">
            <a:extLst>
              <a:ext uri="{FF2B5EF4-FFF2-40B4-BE49-F238E27FC236}">
                <a16:creationId xmlns:a16="http://schemas.microsoft.com/office/drawing/2014/main" id="{5C87BD1B-A5D4-7376-CB98-74752A81880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0453C94-728B-EBB4-F59C-A954C6203074}"/>
              </a:ext>
            </a:extLst>
          </p:cNvPr>
          <p:cNvSpPr>
            <a:spLocks noGrp="1"/>
          </p:cNvSpPr>
          <p:nvPr>
            <p:ph type="sldNum" sz="quarter" idx="12"/>
          </p:nvPr>
        </p:nvSpPr>
        <p:spPr/>
        <p:txBody>
          <a:bodyPr/>
          <a:lstStyle/>
          <a:p>
            <a:fld id="{C0F26613-1B1F-4026-AAE3-3C22B8D6C4D6}" type="slidenum">
              <a:rPr lang="en-IN" smtClean="0"/>
              <a:t>‹#›</a:t>
            </a:fld>
            <a:endParaRPr lang="en-IN"/>
          </a:p>
        </p:txBody>
      </p:sp>
    </p:spTree>
    <p:extLst>
      <p:ext uri="{BB962C8B-B14F-4D97-AF65-F5344CB8AC3E}">
        <p14:creationId xmlns:p14="http://schemas.microsoft.com/office/powerpoint/2010/main" val="2493235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422BD24-45F2-9A6C-7232-3F7F8A702DD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EB4EFDF-9A75-9A17-73AA-CB8F1360661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D5B3730-D417-BFC5-51EC-F71B8579AF70}"/>
              </a:ext>
            </a:extLst>
          </p:cNvPr>
          <p:cNvSpPr>
            <a:spLocks noGrp="1"/>
          </p:cNvSpPr>
          <p:nvPr>
            <p:ph type="dt" sz="half" idx="10"/>
          </p:nvPr>
        </p:nvSpPr>
        <p:spPr/>
        <p:txBody>
          <a:bodyPr/>
          <a:lstStyle/>
          <a:p>
            <a:fld id="{CEBF397D-D992-461C-AB93-C236F4168EFF}" type="datetimeFigureOut">
              <a:rPr lang="en-IN" smtClean="0"/>
              <a:t>13-03-2025</a:t>
            </a:fld>
            <a:endParaRPr lang="en-IN"/>
          </a:p>
        </p:txBody>
      </p:sp>
      <p:sp>
        <p:nvSpPr>
          <p:cNvPr id="5" name="Footer Placeholder 4">
            <a:extLst>
              <a:ext uri="{FF2B5EF4-FFF2-40B4-BE49-F238E27FC236}">
                <a16:creationId xmlns:a16="http://schemas.microsoft.com/office/drawing/2014/main" id="{62AC4E81-2A14-E09E-6038-60C10C1EC01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B3091C1-C32C-C079-4AB8-D6E5F75BFEEA}"/>
              </a:ext>
            </a:extLst>
          </p:cNvPr>
          <p:cNvSpPr>
            <a:spLocks noGrp="1"/>
          </p:cNvSpPr>
          <p:nvPr>
            <p:ph type="sldNum" sz="quarter" idx="12"/>
          </p:nvPr>
        </p:nvSpPr>
        <p:spPr/>
        <p:txBody>
          <a:bodyPr/>
          <a:lstStyle/>
          <a:p>
            <a:fld id="{C0F26613-1B1F-4026-AAE3-3C22B8D6C4D6}" type="slidenum">
              <a:rPr lang="en-IN" smtClean="0"/>
              <a:t>‹#›</a:t>
            </a:fld>
            <a:endParaRPr lang="en-IN"/>
          </a:p>
        </p:txBody>
      </p:sp>
    </p:spTree>
    <p:extLst>
      <p:ext uri="{BB962C8B-B14F-4D97-AF65-F5344CB8AC3E}">
        <p14:creationId xmlns:p14="http://schemas.microsoft.com/office/powerpoint/2010/main" val="21893315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2AB4657-426A-EB5F-583D-07A9A0A2F2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86CD8F3-063B-DC6C-0C97-45D67DFB05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86F22C8-7A64-ED94-F4C5-075DDD4F18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EBF397D-D992-461C-AB93-C236F4168EFF}" type="datetimeFigureOut">
              <a:rPr lang="en-IN" smtClean="0"/>
              <a:t>13-03-2025</a:t>
            </a:fld>
            <a:endParaRPr lang="en-IN"/>
          </a:p>
        </p:txBody>
      </p:sp>
      <p:sp>
        <p:nvSpPr>
          <p:cNvPr id="5" name="Footer Placeholder 4">
            <a:extLst>
              <a:ext uri="{FF2B5EF4-FFF2-40B4-BE49-F238E27FC236}">
                <a16:creationId xmlns:a16="http://schemas.microsoft.com/office/drawing/2014/main" id="{8597A60B-51F3-E67F-9B6D-D8AF004AC8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417639E-A253-68B9-B8D6-336FC5492E0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F26613-1B1F-4026-AAE3-3C22B8D6C4D6}" type="slidenum">
              <a:rPr lang="en-IN" smtClean="0"/>
              <a:t>‹#›</a:t>
            </a:fld>
            <a:endParaRPr lang="en-IN"/>
          </a:p>
        </p:txBody>
      </p:sp>
    </p:spTree>
    <p:extLst>
      <p:ext uri="{BB962C8B-B14F-4D97-AF65-F5344CB8AC3E}">
        <p14:creationId xmlns:p14="http://schemas.microsoft.com/office/powerpoint/2010/main" val="8345237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DFA65-981E-6006-6194-5A0C48756117}"/>
              </a:ext>
            </a:extLst>
          </p:cNvPr>
          <p:cNvSpPr>
            <a:spLocks noGrp="1"/>
          </p:cNvSpPr>
          <p:nvPr>
            <p:ph type="ctrTitle"/>
          </p:nvPr>
        </p:nvSpPr>
        <p:spPr/>
        <p:txBody>
          <a:bodyPr>
            <a:normAutofit/>
          </a:bodyPr>
          <a:lstStyle/>
          <a:p>
            <a:r>
              <a:rPr lang="en-IN" sz="5400" dirty="0"/>
              <a:t>KINGDOMS OF CLASSIFICATION</a:t>
            </a:r>
          </a:p>
        </p:txBody>
      </p:sp>
    </p:spTree>
    <p:extLst>
      <p:ext uri="{BB962C8B-B14F-4D97-AF65-F5344CB8AC3E}">
        <p14:creationId xmlns:p14="http://schemas.microsoft.com/office/powerpoint/2010/main" val="20773902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58C61FF-E04D-D329-3F99-4633B33D700E}"/>
              </a:ext>
            </a:extLst>
          </p:cNvPr>
          <p:cNvPicPr>
            <a:picLocks noGrp="1" noChangeAspect="1"/>
          </p:cNvPicPr>
          <p:nvPr>
            <p:ph idx="1"/>
          </p:nvPr>
        </p:nvPicPr>
        <p:blipFill>
          <a:blip r:embed="rId2"/>
          <a:srcRect t="7089"/>
          <a:stretch/>
        </p:blipFill>
        <p:spPr>
          <a:xfrm>
            <a:off x="2112662" y="1874807"/>
            <a:ext cx="7805832" cy="4169434"/>
          </a:xfrm>
          <a:prstGeom prst="rect">
            <a:avLst/>
          </a:prstGeom>
        </p:spPr>
      </p:pic>
      <p:sp>
        <p:nvSpPr>
          <p:cNvPr id="5" name="Title 1">
            <a:extLst>
              <a:ext uri="{FF2B5EF4-FFF2-40B4-BE49-F238E27FC236}">
                <a16:creationId xmlns:a16="http://schemas.microsoft.com/office/drawing/2014/main" id="{169ADB1B-B0D9-2B57-D37E-B1FF06A2B7C1}"/>
              </a:ext>
            </a:extLst>
          </p:cNvPr>
          <p:cNvSpPr>
            <a:spLocks noGrp="1"/>
          </p:cNvSpPr>
          <p:nvPr>
            <p:ph type="title"/>
          </p:nvPr>
        </p:nvSpPr>
        <p:spPr>
          <a:xfrm>
            <a:off x="838200" y="365125"/>
            <a:ext cx="10515600" cy="1325563"/>
          </a:xfrm>
        </p:spPr>
        <p:txBody>
          <a:bodyPr/>
          <a:lstStyle/>
          <a:p>
            <a:r>
              <a:rPr lang="en-IN" dirty="0"/>
              <a:t>HISTORY OF CLASSIFICATION</a:t>
            </a:r>
          </a:p>
        </p:txBody>
      </p:sp>
    </p:spTree>
    <p:extLst>
      <p:ext uri="{BB962C8B-B14F-4D97-AF65-F5344CB8AC3E}">
        <p14:creationId xmlns:p14="http://schemas.microsoft.com/office/powerpoint/2010/main" val="17217529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C9BC3-9EFC-6750-84E2-567CE8B830D3}"/>
              </a:ext>
            </a:extLst>
          </p:cNvPr>
          <p:cNvSpPr>
            <a:spLocks noGrp="1"/>
          </p:cNvSpPr>
          <p:nvPr>
            <p:ph type="title"/>
          </p:nvPr>
        </p:nvSpPr>
        <p:spPr/>
        <p:txBody>
          <a:bodyPr/>
          <a:lstStyle/>
          <a:p>
            <a:r>
              <a:rPr lang="en-IN" dirty="0"/>
              <a:t>HISTORY OF CLASSIFICATION</a:t>
            </a:r>
          </a:p>
        </p:txBody>
      </p:sp>
      <p:sp>
        <p:nvSpPr>
          <p:cNvPr id="3" name="Content Placeholder 2">
            <a:extLst>
              <a:ext uri="{FF2B5EF4-FFF2-40B4-BE49-F238E27FC236}">
                <a16:creationId xmlns:a16="http://schemas.microsoft.com/office/drawing/2014/main" id="{9F31B05A-555B-EA41-7E4A-58AEDED133A8}"/>
              </a:ext>
            </a:extLst>
          </p:cNvPr>
          <p:cNvSpPr>
            <a:spLocks noGrp="1"/>
          </p:cNvSpPr>
          <p:nvPr>
            <p:ph idx="1"/>
          </p:nvPr>
        </p:nvSpPr>
        <p:spPr>
          <a:xfrm>
            <a:off x="838201" y="1825625"/>
            <a:ext cx="3572774" cy="4351338"/>
          </a:xfrm>
        </p:spPr>
        <p:txBody>
          <a:bodyPr>
            <a:normAutofit/>
          </a:bodyPr>
          <a:lstStyle/>
          <a:p>
            <a:pPr marL="0" indent="0" algn="just">
              <a:buNone/>
            </a:pPr>
            <a:r>
              <a:rPr lang="en-US" sz="1800" b="1" dirty="0">
                <a:latin typeface="Times New Roman" panose="02020603050405020304" pitchFamily="18" charset="0"/>
                <a:cs typeface="Times New Roman" panose="02020603050405020304" pitchFamily="18" charset="0"/>
              </a:rPr>
              <a:t>Contribution Of Carolus Linnaeus:</a:t>
            </a:r>
          </a:p>
          <a:p>
            <a:pPr algn="just"/>
            <a:r>
              <a:rPr lang="en-US" sz="1800" dirty="0">
                <a:latin typeface="Times New Roman" panose="02020603050405020304" pitchFamily="18" charset="0"/>
                <a:cs typeface="Times New Roman" panose="02020603050405020304" pitchFamily="18" charset="0"/>
              </a:rPr>
              <a:t>Carolus Linnaeus, Swedish naturalist and explorer, was the first to frame principles for defining natural genera and species of organisms and to create a uniform system for naming them.</a:t>
            </a:r>
          </a:p>
          <a:p>
            <a:pPr algn="just"/>
            <a:r>
              <a:rPr lang="en-US" sz="1800" dirty="0">
                <a:latin typeface="Times New Roman" panose="02020603050405020304" pitchFamily="18" charset="0"/>
                <a:cs typeface="Times New Roman" panose="02020603050405020304" pitchFamily="18" charset="0"/>
              </a:rPr>
              <a:t>He divided nature into </a:t>
            </a:r>
            <a:r>
              <a:rPr lang="en-US" sz="1800" b="1" dirty="0">
                <a:latin typeface="Times New Roman" panose="02020603050405020304" pitchFamily="18" charset="0"/>
                <a:cs typeface="Times New Roman" panose="02020603050405020304" pitchFamily="18" charset="0"/>
              </a:rPr>
              <a:t>two kingdoms classification</a:t>
            </a: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Kingdom Plantae </a:t>
            </a:r>
            <a:r>
              <a:rPr lang="en-US" sz="1800" dirty="0">
                <a:latin typeface="Times New Roman" panose="02020603050405020304" pitchFamily="18" charset="0"/>
                <a:cs typeface="Times New Roman" panose="02020603050405020304" pitchFamily="18" charset="0"/>
              </a:rPr>
              <a:t>and </a:t>
            </a:r>
            <a:r>
              <a:rPr lang="en-US" sz="1800" b="1" dirty="0">
                <a:latin typeface="Times New Roman" panose="02020603050405020304" pitchFamily="18" charset="0"/>
                <a:cs typeface="Times New Roman" panose="02020603050405020304" pitchFamily="18" charset="0"/>
              </a:rPr>
              <a:t>Kingdom Animalia.</a:t>
            </a:r>
          </a:p>
          <a:p>
            <a:pPr algn="just"/>
            <a:r>
              <a:rPr lang="en-US" sz="1800" dirty="0">
                <a:latin typeface="Times New Roman" panose="02020603050405020304" pitchFamily="18" charset="0"/>
                <a:cs typeface="Times New Roman" panose="02020603050405020304" pitchFamily="18" charset="0"/>
              </a:rPr>
              <a:t>Carolus Linnaeus is considered as the </a:t>
            </a:r>
            <a:r>
              <a:rPr lang="en-US" sz="1800" b="1" dirty="0">
                <a:latin typeface="Times New Roman" panose="02020603050405020304" pitchFamily="18" charset="0"/>
                <a:cs typeface="Times New Roman" panose="02020603050405020304" pitchFamily="18" charset="0"/>
              </a:rPr>
              <a:t>“Father of Taxonomy”.</a:t>
            </a:r>
          </a:p>
          <a:p>
            <a:pPr algn="just"/>
            <a:endParaRPr lang="en-US" sz="1800" dirty="0">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p:txBody>
      </p:sp>
      <p:pic>
        <p:nvPicPr>
          <p:cNvPr id="1026" name="Picture 2">
            <a:extLst>
              <a:ext uri="{FF2B5EF4-FFF2-40B4-BE49-F238E27FC236}">
                <a16:creationId xmlns:a16="http://schemas.microsoft.com/office/drawing/2014/main" id="{93FE842C-BBF9-451A-CB04-D9C1D089141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265"/>
          <a:stretch/>
        </p:blipFill>
        <p:spPr bwMode="auto">
          <a:xfrm>
            <a:off x="4689087" y="1957896"/>
            <a:ext cx="7037087" cy="38793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94603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E22A25-A8D7-328F-5073-5CB83BBF4A63}"/>
              </a:ext>
            </a:extLst>
          </p:cNvPr>
          <p:cNvSpPr>
            <a:spLocks noGrp="1"/>
          </p:cNvSpPr>
          <p:nvPr>
            <p:ph idx="1"/>
          </p:nvPr>
        </p:nvSpPr>
        <p:spPr>
          <a:xfrm>
            <a:off x="838200" y="1825625"/>
            <a:ext cx="3636034" cy="4351338"/>
          </a:xfrm>
        </p:spPr>
        <p:txBody>
          <a:bodyPr/>
          <a:lstStyle/>
          <a:p>
            <a:pPr marL="0" indent="0">
              <a:buNone/>
            </a:pPr>
            <a:r>
              <a:rPr lang="en-US" sz="1800" b="1" dirty="0">
                <a:latin typeface="Times New Roman" panose="02020603050405020304" pitchFamily="18" charset="0"/>
                <a:cs typeface="Times New Roman" panose="02020603050405020304" pitchFamily="18" charset="0"/>
              </a:rPr>
              <a:t>Contribution Of Ernst Hackle in Taxonomy:</a:t>
            </a:r>
          </a:p>
          <a:p>
            <a:r>
              <a:rPr lang="en-US" sz="1800" dirty="0">
                <a:latin typeface="Times New Roman" panose="02020603050405020304" pitchFamily="18" charset="0"/>
                <a:cs typeface="Times New Roman" panose="02020603050405020304" pitchFamily="18" charset="0"/>
              </a:rPr>
              <a:t>Ernst Hackle in 1866, introduced a new Kingdom named as Protista to accommodate the organism exhibiting characters either common to both plants and animals, or unique to their own such as Euglena, Bacteria were also placed under this kingdom.</a:t>
            </a:r>
          </a:p>
          <a:p>
            <a:r>
              <a:rPr lang="en-US" sz="1800" dirty="0">
                <a:latin typeface="Times New Roman" panose="02020603050405020304" pitchFamily="18" charset="0"/>
                <a:cs typeface="Times New Roman" panose="02020603050405020304" pitchFamily="18" charset="0"/>
              </a:rPr>
              <a:t>He introduced </a:t>
            </a:r>
            <a:r>
              <a:rPr lang="en-US" sz="1800" b="1" dirty="0">
                <a:latin typeface="Times New Roman" panose="02020603050405020304" pitchFamily="18" charset="0"/>
                <a:cs typeface="Times New Roman" panose="02020603050405020304" pitchFamily="18" charset="0"/>
              </a:rPr>
              <a:t>three kingdom classification</a:t>
            </a: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Kingdom Plant , Kingdom Animal </a:t>
            </a:r>
            <a:r>
              <a:rPr lang="en-US" sz="1800" dirty="0">
                <a:latin typeface="Times New Roman" panose="02020603050405020304" pitchFamily="18" charset="0"/>
                <a:cs typeface="Times New Roman" panose="02020603050405020304" pitchFamily="18" charset="0"/>
              </a:rPr>
              <a:t>and</a:t>
            </a:r>
            <a:r>
              <a:rPr lang="en-US" sz="1800" b="1" dirty="0">
                <a:latin typeface="Times New Roman" panose="02020603050405020304" pitchFamily="18" charset="0"/>
                <a:cs typeface="Times New Roman" panose="02020603050405020304" pitchFamily="18" charset="0"/>
              </a:rPr>
              <a:t> kingdom Protista.</a:t>
            </a:r>
          </a:p>
          <a:p>
            <a:endParaRPr lang="en-IN" dirty="0"/>
          </a:p>
        </p:txBody>
      </p:sp>
      <p:sp>
        <p:nvSpPr>
          <p:cNvPr id="4" name="Title 1">
            <a:extLst>
              <a:ext uri="{FF2B5EF4-FFF2-40B4-BE49-F238E27FC236}">
                <a16:creationId xmlns:a16="http://schemas.microsoft.com/office/drawing/2014/main" id="{C0A6CAD4-97AA-AC45-DCE5-C3310CA4903A}"/>
              </a:ext>
            </a:extLst>
          </p:cNvPr>
          <p:cNvSpPr>
            <a:spLocks noGrp="1"/>
          </p:cNvSpPr>
          <p:nvPr>
            <p:ph type="title"/>
          </p:nvPr>
        </p:nvSpPr>
        <p:spPr>
          <a:xfrm>
            <a:off x="838200" y="365125"/>
            <a:ext cx="10515600" cy="1325563"/>
          </a:xfrm>
        </p:spPr>
        <p:txBody>
          <a:bodyPr/>
          <a:lstStyle/>
          <a:p>
            <a:r>
              <a:rPr lang="en-IN" dirty="0"/>
              <a:t>HISTORY OF CLASSIFICATION</a:t>
            </a:r>
          </a:p>
        </p:txBody>
      </p:sp>
      <p:pic>
        <p:nvPicPr>
          <p:cNvPr id="6" name="Picture 5">
            <a:extLst>
              <a:ext uri="{FF2B5EF4-FFF2-40B4-BE49-F238E27FC236}">
                <a16:creationId xmlns:a16="http://schemas.microsoft.com/office/drawing/2014/main" id="{262C09B4-5ADC-92C5-4707-28B45039322B}"/>
              </a:ext>
            </a:extLst>
          </p:cNvPr>
          <p:cNvPicPr>
            <a:picLocks noChangeAspect="1"/>
          </p:cNvPicPr>
          <p:nvPr/>
        </p:nvPicPr>
        <p:blipFill>
          <a:blip r:embed="rId2"/>
          <a:stretch>
            <a:fillRect/>
          </a:stretch>
        </p:blipFill>
        <p:spPr>
          <a:xfrm>
            <a:off x="4615646" y="1957374"/>
            <a:ext cx="6921849" cy="3741811"/>
          </a:xfrm>
          <a:prstGeom prst="rect">
            <a:avLst/>
          </a:prstGeom>
        </p:spPr>
      </p:pic>
    </p:spTree>
    <p:extLst>
      <p:ext uri="{BB962C8B-B14F-4D97-AF65-F5344CB8AC3E}">
        <p14:creationId xmlns:p14="http://schemas.microsoft.com/office/powerpoint/2010/main" val="32584385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8381625-42EA-D127-82D5-ADABFCEFCB24}"/>
              </a:ext>
            </a:extLst>
          </p:cNvPr>
          <p:cNvSpPr>
            <a:spLocks noGrp="1"/>
          </p:cNvSpPr>
          <p:nvPr>
            <p:ph idx="1"/>
          </p:nvPr>
        </p:nvSpPr>
        <p:spPr/>
        <p:txBody>
          <a:bodyPr>
            <a:normAutofit/>
          </a:bodyPr>
          <a:lstStyle/>
          <a:p>
            <a:pPr marL="0" indent="0">
              <a:buNone/>
            </a:pPr>
            <a:r>
              <a:rPr lang="en-US" sz="1800" b="1" dirty="0">
                <a:latin typeface="Times New Roman" panose="02020603050405020304" pitchFamily="18" charset="0"/>
                <a:cs typeface="Times New Roman" panose="02020603050405020304" pitchFamily="18" charset="0"/>
              </a:rPr>
              <a:t>Kingdom Plant:</a:t>
            </a:r>
          </a:p>
          <a:p>
            <a:r>
              <a:rPr lang="en-US" sz="1800" dirty="0">
                <a:latin typeface="Times New Roman" panose="02020603050405020304" pitchFamily="18" charset="0"/>
                <a:cs typeface="Times New Roman" panose="02020603050405020304" pitchFamily="18" charset="0"/>
              </a:rPr>
              <a:t>All the organisms possess cell wall were placed in plant kingdom.</a:t>
            </a:r>
          </a:p>
          <a:p>
            <a:r>
              <a:rPr lang="en-US" sz="1800" dirty="0">
                <a:latin typeface="Times New Roman" panose="02020603050405020304" pitchFamily="18" charset="0"/>
                <a:cs typeface="Times New Roman" panose="02020603050405020304" pitchFamily="18" charset="0"/>
              </a:rPr>
              <a:t>Organs of locomotion  are absent (they can not move from  one place to another by their own).</a:t>
            </a:r>
          </a:p>
          <a:p>
            <a:r>
              <a:rPr lang="en-US" sz="1800" dirty="0">
                <a:latin typeface="Times New Roman" panose="02020603050405020304" pitchFamily="18" charset="0"/>
                <a:cs typeface="Times New Roman" panose="02020603050405020304" pitchFamily="18" charset="0"/>
              </a:rPr>
              <a:t>Chlorophyll is present.</a:t>
            </a:r>
          </a:p>
          <a:p>
            <a:r>
              <a:rPr lang="en-US" sz="1800" dirty="0">
                <a:latin typeface="Times New Roman" panose="02020603050405020304" pitchFamily="18" charset="0"/>
                <a:cs typeface="Times New Roman" panose="02020603050405020304" pitchFamily="18" charset="0"/>
              </a:rPr>
              <a:t>Plants are autotrophic in nature (they can prepare their own food).</a:t>
            </a:r>
          </a:p>
          <a:p>
            <a:r>
              <a:rPr lang="en-US" sz="1800" dirty="0" err="1">
                <a:latin typeface="Times New Roman" panose="02020603050405020304" pitchFamily="18" charset="0"/>
                <a:cs typeface="Times New Roman" panose="02020603050405020304" pitchFamily="18" charset="0"/>
              </a:rPr>
              <a:t>Conductile</a:t>
            </a:r>
            <a:r>
              <a:rPr lang="en-US" sz="1800" dirty="0">
                <a:latin typeface="Times New Roman" panose="02020603050405020304" pitchFamily="18" charset="0"/>
                <a:cs typeface="Times New Roman" panose="02020603050405020304" pitchFamily="18" charset="0"/>
              </a:rPr>
              <a:t> and contractile system is absent.</a:t>
            </a:r>
          </a:p>
          <a:p>
            <a:r>
              <a:rPr lang="en-US" sz="1800" dirty="0">
                <a:latin typeface="Times New Roman" panose="02020603050405020304" pitchFamily="18" charset="0"/>
                <a:cs typeface="Times New Roman" panose="02020603050405020304" pitchFamily="18" charset="0"/>
              </a:rPr>
              <a:t>Response to external stimuli is slow.</a:t>
            </a:r>
          </a:p>
          <a:p>
            <a:r>
              <a:rPr lang="en-US" sz="1800" b="1" dirty="0">
                <a:latin typeface="Times New Roman" panose="02020603050405020304" pitchFamily="18" charset="0"/>
                <a:cs typeface="Times New Roman" panose="02020603050405020304" pitchFamily="18" charset="0"/>
              </a:rPr>
              <a:t>E.g.: Bacteria, Algae, Fungi, Bryophytes, Pteridophytes, Gymno-Sperms, and angiosperms</a:t>
            </a:r>
            <a:r>
              <a:rPr lang="en-US" sz="1800" dirty="0">
                <a:latin typeface="Times New Roman" panose="02020603050405020304" pitchFamily="18" charset="0"/>
                <a:cs typeface="Times New Roman" panose="02020603050405020304" pitchFamily="18" charset="0"/>
              </a:rPr>
              <a:t>.</a:t>
            </a:r>
            <a:endParaRPr lang="en-IN" sz="1800"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7616E55F-65DE-FAEA-9874-05D6DD9D1DAC}"/>
              </a:ext>
            </a:extLst>
          </p:cNvPr>
          <p:cNvSpPr>
            <a:spLocks noGrp="1"/>
          </p:cNvSpPr>
          <p:nvPr>
            <p:ph type="title"/>
          </p:nvPr>
        </p:nvSpPr>
        <p:spPr>
          <a:xfrm>
            <a:off x="838200" y="365125"/>
            <a:ext cx="10515600" cy="1325563"/>
          </a:xfrm>
        </p:spPr>
        <p:txBody>
          <a:bodyPr/>
          <a:lstStyle/>
          <a:p>
            <a:r>
              <a:rPr lang="en-IN" dirty="0"/>
              <a:t>HISTORY OF CLASSIFICATION</a:t>
            </a:r>
          </a:p>
        </p:txBody>
      </p:sp>
    </p:spTree>
    <p:extLst>
      <p:ext uri="{BB962C8B-B14F-4D97-AF65-F5344CB8AC3E}">
        <p14:creationId xmlns:p14="http://schemas.microsoft.com/office/powerpoint/2010/main" val="5444378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FAD198-AF73-2079-A53B-92E72050D22C}"/>
              </a:ext>
            </a:extLst>
          </p:cNvPr>
          <p:cNvSpPr>
            <a:spLocks noGrp="1"/>
          </p:cNvSpPr>
          <p:nvPr>
            <p:ph idx="1"/>
          </p:nvPr>
        </p:nvSpPr>
        <p:spPr/>
        <p:txBody>
          <a:bodyPr>
            <a:normAutofit/>
          </a:bodyPr>
          <a:lstStyle/>
          <a:p>
            <a:pPr marL="0" indent="0">
              <a:buNone/>
            </a:pPr>
            <a:r>
              <a:rPr lang="en-US" sz="1800" b="1" dirty="0">
                <a:latin typeface="Times New Roman" panose="02020603050405020304" pitchFamily="18" charset="0"/>
                <a:cs typeface="Times New Roman" panose="02020603050405020304" pitchFamily="18" charset="0"/>
              </a:rPr>
              <a:t>Kingdom Animal:</a:t>
            </a:r>
          </a:p>
          <a:p>
            <a:r>
              <a:rPr lang="en-US" sz="1800" dirty="0">
                <a:latin typeface="Times New Roman" panose="02020603050405020304" pitchFamily="18" charset="0"/>
                <a:cs typeface="Times New Roman" panose="02020603050405020304" pitchFamily="18" charset="0"/>
              </a:rPr>
              <a:t>All the organisms do not possess cell wall were placed in animal kingdom.</a:t>
            </a:r>
          </a:p>
          <a:p>
            <a:r>
              <a:rPr lang="en-US" sz="1800" dirty="0">
                <a:latin typeface="Times New Roman" panose="02020603050405020304" pitchFamily="18" charset="0"/>
                <a:cs typeface="Times New Roman" panose="02020603050405020304" pitchFamily="18" charset="0"/>
              </a:rPr>
              <a:t>Locomotory organs are present (they can move from one place to another).</a:t>
            </a:r>
          </a:p>
          <a:p>
            <a:r>
              <a:rPr lang="en-US" sz="1800" dirty="0">
                <a:latin typeface="Times New Roman" panose="02020603050405020304" pitchFamily="18" charset="0"/>
                <a:cs typeface="Times New Roman" panose="02020603050405020304" pitchFamily="18" charset="0"/>
              </a:rPr>
              <a:t>Chlorophyll is absent. </a:t>
            </a:r>
          </a:p>
          <a:p>
            <a:r>
              <a:rPr lang="en-US" sz="1800" dirty="0">
                <a:latin typeface="Times New Roman" panose="02020603050405020304" pitchFamily="18" charset="0"/>
                <a:cs typeface="Times New Roman" panose="02020603050405020304" pitchFamily="18" charset="0"/>
              </a:rPr>
              <a:t>They are heterotrophic in nature (they can not prepare their own food and depends on other plants and animals for their food).</a:t>
            </a:r>
          </a:p>
          <a:p>
            <a:r>
              <a:rPr lang="en-US" sz="1800" dirty="0" err="1">
                <a:latin typeface="Times New Roman" panose="02020603050405020304" pitchFamily="18" charset="0"/>
                <a:cs typeface="Times New Roman" panose="02020603050405020304" pitchFamily="18" charset="0"/>
              </a:rPr>
              <a:t>Conductile</a:t>
            </a:r>
            <a:r>
              <a:rPr lang="en-US" sz="1800" dirty="0">
                <a:latin typeface="Times New Roman" panose="02020603050405020304" pitchFamily="18" charset="0"/>
                <a:cs typeface="Times New Roman" panose="02020603050405020304" pitchFamily="18" charset="0"/>
              </a:rPr>
              <a:t> and contractile system is present.</a:t>
            </a:r>
          </a:p>
          <a:p>
            <a:r>
              <a:rPr lang="en-US" sz="1800" dirty="0">
                <a:latin typeface="Times New Roman" panose="02020603050405020304" pitchFamily="18" charset="0"/>
                <a:cs typeface="Times New Roman" panose="02020603050405020304" pitchFamily="18" charset="0"/>
              </a:rPr>
              <a:t>Response to external stimuli is fast.</a:t>
            </a:r>
          </a:p>
          <a:p>
            <a:r>
              <a:rPr lang="en-US" sz="1800" b="1" dirty="0">
                <a:latin typeface="Times New Roman" panose="02020603050405020304" pitchFamily="18" charset="0"/>
                <a:cs typeface="Times New Roman" panose="02020603050405020304" pitchFamily="18" charset="0"/>
              </a:rPr>
              <a:t>E.g.: Invertebrates (including protozoa), Vertebrate.</a:t>
            </a:r>
            <a:endParaRPr lang="en-IN" sz="1800" b="1"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5C29C2BD-4DC9-564E-6DA4-083DFCD42438}"/>
              </a:ext>
            </a:extLst>
          </p:cNvPr>
          <p:cNvSpPr>
            <a:spLocks noGrp="1"/>
          </p:cNvSpPr>
          <p:nvPr>
            <p:ph type="title"/>
          </p:nvPr>
        </p:nvSpPr>
        <p:spPr>
          <a:xfrm>
            <a:off x="838200" y="365125"/>
            <a:ext cx="10515600" cy="1325563"/>
          </a:xfrm>
        </p:spPr>
        <p:txBody>
          <a:bodyPr/>
          <a:lstStyle/>
          <a:p>
            <a:r>
              <a:rPr lang="en-IN" dirty="0"/>
              <a:t>HISTORY OF CLASSIFICATION</a:t>
            </a:r>
          </a:p>
        </p:txBody>
      </p:sp>
    </p:spTree>
    <p:extLst>
      <p:ext uri="{BB962C8B-B14F-4D97-AF65-F5344CB8AC3E}">
        <p14:creationId xmlns:p14="http://schemas.microsoft.com/office/powerpoint/2010/main" val="39382910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A1C875-59CA-4605-1945-26733BFFD1F6}"/>
              </a:ext>
            </a:extLst>
          </p:cNvPr>
          <p:cNvSpPr>
            <a:spLocks noGrp="1"/>
          </p:cNvSpPr>
          <p:nvPr>
            <p:ph idx="1"/>
          </p:nvPr>
        </p:nvSpPr>
        <p:spPr/>
        <p:txBody>
          <a:bodyPr>
            <a:normAutofit/>
          </a:bodyPr>
          <a:lstStyle/>
          <a:p>
            <a:pPr marL="0" indent="0">
              <a:buNone/>
            </a:pPr>
            <a:r>
              <a:rPr lang="en-IN" sz="1800" b="1" dirty="0">
                <a:latin typeface="Times New Roman" panose="02020603050405020304" pitchFamily="18" charset="0"/>
                <a:cs typeface="Times New Roman" panose="02020603050405020304" pitchFamily="18" charset="0"/>
              </a:rPr>
              <a:t>Kingdom Protista:</a:t>
            </a:r>
          </a:p>
          <a:p>
            <a:r>
              <a:rPr lang="en-IN" sz="1800" dirty="0">
                <a:latin typeface="Times New Roman" panose="02020603050405020304" pitchFamily="18" charset="0"/>
                <a:cs typeface="Times New Roman" panose="02020603050405020304" pitchFamily="18" charset="0"/>
              </a:rPr>
              <a:t>Ernst Hackle in 1866, introduced a new Kingdom named as Protista.</a:t>
            </a:r>
          </a:p>
          <a:p>
            <a:r>
              <a:rPr lang="en-IN" sz="1800" dirty="0">
                <a:latin typeface="Times New Roman" panose="02020603050405020304" pitchFamily="18" charset="0"/>
                <a:cs typeface="Times New Roman" panose="02020603050405020304" pitchFamily="18" charset="0"/>
              </a:rPr>
              <a:t>The organisms exhibiting characters either common to both plants and animals, or unique to their own such as Euglena, Bacteria were also placed under this kingdom.</a:t>
            </a:r>
          </a:p>
          <a:p>
            <a:r>
              <a:rPr lang="en-IN" sz="1800" dirty="0">
                <a:latin typeface="Times New Roman" panose="02020603050405020304" pitchFamily="18" charset="0"/>
                <a:cs typeface="Times New Roman" panose="02020603050405020304" pitchFamily="18" charset="0"/>
              </a:rPr>
              <a:t>Haeckel grouped those living organisms in Protista which did not have tissues.</a:t>
            </a:r>
          </a:p>
          <a:p>
            <a:r>
              <a:rPr lang="en-IN" sz="1800" dirty="0">
                <a:latin typeface="Times New Roman" panose="02020603050405020304" pitchFamily="18" charset="0"/>
                <a:cs typeface="Times New Roman" panose="02020603050405020304" pitchFamily="18" charset="0"/>
              </a:rPr>
              <a:t>Kingdom Protista includes prokaryotes, protozoa, porifera, algae and fungi.</a:t>
            </a:r>
          </a:p>
          <a:p>
            <a:r>
              <a:rPr lang="en-IN" sz="1800" dirty="0">
                <a:latin typeface="Times New Roman" panose="02020603050405020304" pitchFamily="18" charset="0"/>
                <a:cs typeface="Times New Roman" panose="02020603050405020304" pitchFamily="18" charset="0"/>
              </a:rPr>
              <a:t>In 1930s, electron microscopy revealed, two distinct patterns among single celled organisms. Kingdom Protista is further divided to:</a:t>
            </a:r>
          </a:p>
          <a:p>
            <a:pPr marL="0" indent="0">
              <a:buNone/>
            </a:pPr>
            <a:r>
              <a:rPr lang="en-IN" sz="1800" dirty="0">
                <a:latin typeface="Times New Roman" panose="02020603050405020304" pitchFamily="18" charset="0"/>
                <a:cs typeface="Times New Roman" panose="02020603050405020304" pitchFamily="18" charset="0"/>
              </a:rPr>
              <a:t>(a) Lower protists include prokaryotic unicellular </a:t>
            </a:r>
            <a:r>
              <a:rPr lang="en-IN" sz="1800" b="1" dirty="0">
                <a:latin typeface="Times New Roman" panose="02020603050405020304" pitchFamily="18" charset="0"/>
                <a:cs typeface="Times New Roman" panose="02020603050405020304" pitchFamily="18" charset="0"/>
              </a:rPr>
              <a:t>Bacteria </a:t>
            </a:r>
            <a:r>
              <a:rPr lang="en-IN" sz="1800" dirty="0">
                <a:latin typeface="Times New Roman" panose="02020603050405020304" pitchFamily="18" charset="0"/>
                <a:cs typeface="Times New Roman" panose="02020603050405020304" pitchFamily="18" charset="0"/>
              </a:rPr>
              <a:t>and</a:t>
            </a:r>
            <a:r>
              <a:rPr lang="en-IN" sz="1800" b="1" dirty="0">
                <a:latin typeface="Times New Roman" panose="02020603050405020304" pitchFamily="18" charset="0"/>
                <a:cs typeface="Times New Roman" panose="02020603050405020304" pitchFamily="18" charset="0"/>
              </a:rPr>
              <a:t> Cyanobacteria</a:t>
            </a:r>
            <a:r>
              <a:rPr lang="en-IN" sz="1800" dirty="0">
                <a:latin typeface="Times New Roman" panose="02020603050405020304" pitchFamily="18" charset="0"/>
                <a:cs typeface="Times New Roman" panose="02020603050405020304" pitchFamily="18" charset="0"/>
              </a:rPr>
              <a:t>.</a:t>
            </a:r>
          </a:p>
          <a:p>
            <a:pPr marL="0" indent="0">
              <a:buNone/>
            </a:pPr>
            <a:r>
              <a:rPr lang="en-IN" sz="1800" dirty="0">
                <a:latin typeface="Times New Roman" panose="02020603050405020304" pitchFamily="18" charset="0"/>
                <a:cs typeface="Times New Roman" panose="02020603050405020304" pitchFamily="18" charset="0"/>
              </a:rPr>
              <a:t>(b) Higher protists include eukaryotic unicellular or multicellular organisms such as </a:t>
            </a:r>
            <a:r>
              <a:rPr lang="en-IN" sz="1800" b="1" dirty="0">
                <a:latin typeface="Times New Roman" panose="02020603050405020304" pitchFamily="18" charset="0"/>
                <a:cs typeface="Times New Roman" panose="02020603050405020304" pitchFamily="18" charset="0"/>
              </a:rPr>
              <a:t>fungi </a:t>
            </a:r>
            <a:r>
              <a:rPr lang="en-IN" sz="1800" dirty="0">
                <a:latin typeface="Times New Roman" panose="02020603050405020304" pitchFamily="18" charset="0"/>
                <a:cs typeface="Times New Roman" panose="02020603050405020304" pitchFamily="18" charset="0"/>
              </a:rPr>
              <a:t>and</a:t>
            </a:r>
            <a:r>
              <a:rPr lang="en-IN" sz="1800" b="1" dirty="0">
                <a:latin typeface="Times New Roman" panose="02020603050405020304" pitchFamily="18" charset="0"/>
                <a:cs typeface="Times New Roman" panose="02020603050405020304" pitchFamily="18" charset="0"/>
              </a:rPr>
              <a:t> algae</a:t>
            </a:r>
            <a:r>
              <a:rPr lang="en-IN" sz="1800" dirty="0">
                <a:latin typeface="Times New Roman" panose="02020603050405020304" pitchFamily="18" charset="0"/>
                <a:cs typeface="Times New Roman" panose="02020603050405020304" pitchFamily="18" charset="0"/>
              </a:rPr>
              <a:t>.</a:t>
            </a:r>
          </a:p>
          <a:p>
            <a:pPr marL="0" indent="0">
              <a:buNone/>
            </a:pPr>
            <a:endParaRPr lang="en-IN" dirty="0"/>
          </a:p>
        </p:txBody>
      </p:sp>
      <p:sp>
        <p:nvSpPr>
          <p:cNvPr id="4" name="Title 1">
            <a:extLst>
              <a:ext uri="{FF2B5EF4-FFF2-40B4-BE49-F238E27FC236}">
                <a16:creationId xmlns:a16="http://schemas.microsoft.com/office/drawing/2014/main" id="{331A7000-9C27-98EB-8459-A6083293CAD5}"/>
              </a:ext>
            </a:extLst>
          </p:cNvPr>
          <p:cNvSpPr>
            <a:spLocks noGrp="1"/>
          </p:cNvSpPr>
          <p:nvPr>
            <p:ph type="title"/>
          </p:nvPr>
        </p:nvSpPr>
        <p:spPr>
          <a:xfrm>
            <a:off x="838200" y="365125"/>
            <a:ext cx="10515600" cy="1325563"/>
          </a:xfrm>
        </p:spPr>
        <p:txBody>
          <a:bodyPr/>
          <a:lstStyle/>
          <a:p>
            <a:r>
              <a:rPr lang="en-IN" dirty="0"/>
              <a:t>HISTORY OF CLASSIFICATION</a:t>
            </a:r>
          </a:p>
        </p:txBody>
      </p:sp>
    </p:spTree>
    <p:extLst>
      <p:ext uri="{BB962C8B-B14F-4D97-AF65-F5344CB8AC3E}">
        <p14:creationId xmlns:p14="http://schemas.microsoft.com/office/powerpoint/2010/main" val="2519999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700B80-D454-1A4E-B580-01DAD7E292CF}"/>
              </a:ext>
            </a:extLst>
          </p:cNvPr>
          <p:cNvSpPr>
            <a:spLocks noGrp="1"/>
          </p:cNvSpPr>
          <p:nvPr>
            <p:ph idx="1"/>
          </p:nvPr>
        </p:nvSpPr>
        <p:spPr>
          <a:xfrm>
            <a:off x="838199" y="1825625"/>
            <a:ext cx="3141453" cy="4351338"/>
          </a:xfrm>
        </p:spPr>
        <p:txBody>
          <a:bodyPr>
            <a:normAutofit lnSpcReduction="10000"/>
          </a:bodyPr>
          <a:lstStyle/>
          <a:p>
            <a:pPr marL="0" indent="0" algn="just">
              <a:buNone/>
            </a:pPr>
            <a:r>
              <a:rPr lang="en-US" sz="1800" b="1" dirty="0">
                <a:latin typeface="Times New Roman" panose="02020603050405020304" pitchFamily="18" charset="0"/>
                <a:cs typeface="Times New Roman" panose="02020603050405020304" pitchFamily="18" charset="0"/>
              </a:rPr>
              <a:t>Contribution Of Copeland (1959) in Taxonomy:</a:t>
            </a:r>
          </a:p>
          <a:p>
            <a:pPr algn="just"/>
            <a:r>
              <a:rPr lang="en-US" sz="1800" dirty="0">
                <a:latin typeface="Times New Roman" panose="02020603050405020304" pitchFamily="18" charset="0"/>
                <a:cs typeface="Times New Roman" panose="02020603050405020304" pitchFamily="18" charset="0"/>
              </a:rPr>
              <a:t>Copeland (1959) came forward with a </a:t>
            </a:r>
            <a:r>
              <a:rPr lang="en-US" sz="1800" b="1" dirty="0">
                <a:latin typeface="Times New Roman" panose="02020603050405020304" pitchFamily="18" charset="0"/>
                <a:cs typeface="Times New Roman" panose="02020603050405020304" pitchFamily="18" charset="0"/>
              </a:rPr>
              <a:t>four-kingdom system</a:t>
            </a:r>
            <a:r>
              <a:rPr lang="en-US" sz="1800" dirty="0">
                <a:latin typeface="Times New Roman" panose="02020603050405020304" pitchFamily="18" charset="0"/>
                <a:cs typeface="Times New Roman" panose="02020603050405020304" pitchFamily="18" charset="0"/>
              </a:rPr>
              <a:t> to classify the living beings.</a:t>
            </a:r>
          </a:p>
          <a:p>
            <a:pPr algn="just"/>
            <a:r>
              <a:rPr lang="en-US" sz="1800" dirty="0">
                <a:latin typeface="Times New Roman" panose="02020603050405020304" pitchFamily="18" charset="0"/>
                <a:cs typeface="Times New Roman" panose="02020603050405020304" pitchFamily="18" charset="0"/>
              </a:rPr>
              <a:t>He designed a new kingdom named as Monera to place all the lower protists which include prokaryotic unicellular organisms and remaining single celled eukaryotic organisms were included in Protista.</a:t>
            </a:r>
          </a:p>
          <a:p>
            <a:pPr algn="just"/>
            <a:endParaRPr lang="en-US" sz="1800" dirty="0">
              <a:latin typeface="Times New Roman" panose="02020603050405020304" pitchFamily="18" charset="0"/>
              <a:cs typeface="Times New Roman" panose="02020603050405020304" pitchFamily="18" charset="0"/>
            </a:endParaRPr>
          </a:p>
          <a:p>
            <a:pPr marL="0" indent="0" algn="just">
              <a:buNone/>
            </a:pPr>
            <a:br>
              <a:rPr lang="en-IN" sz="1200" dirty="0"/>
            </a:br>
            <a:endParaRPr lang="en-US" sz="1800" dirty="0">
              <a:latin typeface="Times New Roman" panose="02020603050405020304" pitchFamily="18" charset="0"/>
              <a:cs typeface="Times New Roman" panose="02020603050405020304" pitchFamily="18" charset="0"/>
            </a:endParaRPr>
          </a:p>
          <a:p>
            <a:pPr marL="0" indent="0" algn="just">
              <a:buNone/>
            </a:pPr>
            <a:endParaRPr lang="en-IN" sz="1800" dirty="0">
              <a:latin typeface="Times New Roman" panose="02020603050405020304" pitchFamily="18" charset="0"/>
              <a:cs typeface="Times New Roman" panose="02020603050405020304" pitchFamily="18" charset="0"/>
            </a:endParaRPr>
          </a:p>
        </p:txBody>
      </p:sp>
      <p:sp>
        <p:nvSpPr>
          <p:cNvPr id="5" name="Title 1">
            <a:extLst>
              <a:ext uri="{FF2B5EF4-FFF2-40B4-BE49-F238E27FC236}">
                <a16:creationId xmlns:a16="http://schemas.microsoft.com/office/drawing/2014/main" id="{A80DC0CD-6C54-AEB5-9DE2-072FCBAD0DB3}"/>
              </a:ext>
            </a:extLst>
          </p:cNvPr>
          <p:cNvSpPr>
            <a:spLocks noGrp="1"/>
          </p:cNvSpPr>
          <p:nvPr>
            <p:ph type="title"/>
          </p:nvPr>
        </p:nvSpPr>
        <p:spPr>
          <a:xfrm>
            <a:off x="838200" y="365125"/>
            <a:ext cx="10515600" cy="1325563"/>
          </a:xfrm>
        </p:spPr>
        <p:txBody>
          <a:bodyPr/>
          <a:lstStyle/>
          <a:p>
            <a:r>
              <a:rPr lang="en-IN" dirty="0"/>
              <a:t>HISTORY OF CLASSIFICATION</a:t>
            </a:r>
          </a:p>
        </p:txBody>
      </p:sp>
      <p:pic>
        <p:nvPicPr>
          <p:cNvPr id="7" name="Picture 6">
            <a:extLst>
              <a:ext uri="{FF2B5EF4-FFF2-40B4-BE49-F238E27FC236}">
                <a16:creationId xmlns:a16="http://schemas.microsoft.com/office/drawing/2014/main" id="{CB01198A-7C75-5932-E6CA-8088BBB77F83}"/>
              </a:ext>
            </a:extLst>
          </p:cNvPr>
          <p:cNvPicPr>
            <a:picLocks noChangeAspect="1"/>
          </p:cNvPicPr>
          <p:nvPr/>
        </p:nvPicPr>
        <p:blipFill>
          <a:blip r:embed="rId2"/>
          <a:stretch>
            <a:fillRect/>
          </a:stretch>
        </p:blipFill>
        <p:spPr>
          <a:xfrm>
            <a:off x="4037163" y="1825625"/>
            <a:ext cx="7787711" cy="3904980"/>
          </a:xfrm>
          <a:prstGeom prst="rect">
            <a:avLst/>
          </a:prstGeom>
        </p:spPr>
      </p:pic>
    </p:spTree>
    <p:extLst>
      <p:ext uri="{BB962C8B-B14F-4D97-AF65-F5344CB8AC3E}">
        <p14:creationId xmlns:p14="http://schemas.microsoft.com/office/powerpoint/2010/main" val="31702226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DF1381-F3E6-64FD-6B78-70EF9180948F}"/>
              </a:ext>
            </a:extLst>
          </p:cNvPr>
          <p:cNvSpPr>
            <a:spLocks noGrp="1"/>
          </p:cNvSpPr>
          <p:nvPr>
            <p:ph idx="1"/>
          </p:nvPr>
        </p:nvSpPr>
        <p:spPr>
          <a:xfrm>
            <a:off x="838200" y="1825625"/>
            <a:ext cx="3590026" cy="4351338"/>
          </a:xfrm>
        </p:spPr>
        <p:txBody>
          <a:bodyPr/>
          <a:lstStyle/>
          <a:p>
            <a:pPr marL="0" indent="0">
              <a:buNone/>
            </a:pPr>
            <a:r>
              <a:rPr lang="en-IN" sz="1800" b="1" dirty="0">
                <a:latin typeface="Times New Roman" panose="02020603050405020304" pitchFamily="18" charset="0"/>
                <a:cs typeface="Times New Roman" panose="02020603050405020304" pitchFamily="18" charset="0"/>
              </a:rPr>
              <a:t>Contribution Of Robert Whittaker:</a:t>
            </a:r>
          </a:p>
          <a:p>
            <a:r>
              <a:rPr lang="en-IN" sz="1800" dirty="0">
                <a:latin typeface="Times New Roman" panose="02020603050405020304" pitchFamily="18" charset="0"/>
                <a:cs typeface="Times New Roman" panose="02020603050405020304" pitchFamily="18" charset="0"/>
              </a:rPr>
              <a:t>Robert Whittaker in 1969 classified the organisms into </a:t>
            </a:r>
            <a:r>
              <a:rPr lang="en-IN" sz="1800" b="1" dirty="0">
                <a:latin typeface="Times New Roman" panose="02020603050405020304" pitchFamily="18" charset="0"/>
                <a:cs typeface="Times New Roman" panose="02020603050405020304" pitchFamily="18" charset="0"/>
              </a:rPr>
              <a:t>Five kingdoms </a:t>
            </a:r>
            <a:r>
              <a:rPr lang="en-IN" sz="1800" dirty="0">
                <a:latin typeface="Times New Roman" panose="02020603050405020304" pitchFamily="18" charset="0"/>
                <a:cs typeface="Times New Roman" panose="02020603050405020304" pitchFamily="18" charset="0"/>
              </a:rPr>
              <a:t>which clearly categorized fungi into a separate kingdom.</a:t>
            </a:r>
          </a:p>
          <a:p>
            <a:r>
              <a:rPr lang="en-IN" sz="1800" dirty="0">
                <a:latin typeface="Times New Roman" panose="02020603050405020304" pitchFamily="18" charset="0"/>
                <a:cs typeface="Times New Roman" panose="02020603050405020304" pitchFamily="18" charset="0"/>
              </a:rPr>
              <a:t>This system of classification was based on; Cellular structure and body organization; unicellular Prokaryote, Unicellular and multicellular eukaryotes. Mode of nutrition; autotrophs (plants), Ingestive heterotrophs (animals) and absorptive heterotrophs (fungi).</a:t>
            </a:r>
          </a:p>
          <a:p>
            <a:endParaRPr lang="en-IN" dirty="0"/>
          </a:p>
        </p:txBody>
      </p:sp>
      <p:sp>
        <p:nvSpPr>
          <p:cNvPr id="4" name="Title 1">
            <a:extLst>
              <a:ext uri="{FF2B5EF4-FFF2-40B4-BE49-F238E27FC236}">
                <a16:creationId xmlns:a16="http://schemas.microsoft.com/office/drawing/2014/main" id="{A6D06547-E239-8B46-D6AA-62431A55E78E}"/>
              </a:ext>
            </a:extLst>
          </p:cNvPr>
          <p:cNvSpPr>
            <a:spLocks noGrp="1"/>
          </p:cNvSpPr>
          <p:nvPr>
            <p:ph type="title"/>
          </p:nvPr>
        </p:nvSpPr>
        <p:spPr>
          <a:xfrm>
            <a:off x="838200" y="365125"/>
            <a:ext cx="10515600" cy="1325563"/>
          </a:xfrm>
        </p:spPr>
        <p:txBody>
          <a:bodyPr/>
          <a:lstStyle/>
          <a:p>
            <a:r>
              <a:rPr lang="en-IN" dirty="0"/>
              <a:t>HISTORY OF CLASSIFICATION</a:t>
            </a:r>
          </a:p>
        </p:txBody>
      </p:sp>
      <p:pic>
        <p:nvPicPr>
          <p:cNvPr id="6" name="Picture 5">
            <a:extLst>
              <a:ext uri="{FF2B5EF4-FFF2-40B4-BE49-F238E27FC236}">
                <a16:creationId xmlns:a16="http://schemas.microsoft.com/office/drawing/2014/main" id="{B1B8E8EE-1857-9017-E6AC-827D789054E6}"/>
              </a:ext>
            </a:extLst>
          </p:cNvPr>
          <p:cNvPicPr>
            <a:picLocks noChangeAspect="1"/>
          </p:cNvPicPr>
          <p:nvPr/>
        </p:nvPicPr>
        <p:blipFill>
          <a:blip r:embed="rId2"/>
          <a:stretch>
            <a:fillRect/>
          </a:stretch>
        </p:blipFill>
        <p:spPr>
          <a:xfrm>
            <a:off x="4824657" y="1825625"/>
            <a:ext cx="6591348" cy="4229131"/>
          </a:xfrm>
          <a:prstGeom prst="rect">
            <a:avLst/>
          </a:prstGeom>
        </p:spPr>
      </p:pic>
    </p:spTree>
    <p:extLst>
      <p:ext uri="{BB962C8B-B14F-4D97-AF65-F5344CB8AC3E}">
        <p14:creationId xmlns:p14="http://schemas.microsoft.com/office/powerpoint/2010/main" val="1642093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D55454D-93BF-7DAA-AD47-4263B35B6A38}"/>
              </a:ext>
            </a:extLst>
          </p:cNvPr>
          <p:cNvPicPr>
            <a:picLocks noGrp="1" noChangeAspect="1"/>
          </p:cNvPicPr>
          <p:nvPr>
            <p:ph idx="1"/>
          </p:nvPr>
        </p:nvPicPr>
        <p:blipFill>
          <a:blip r:embed="rId2"/>
          <a:srcRect t="9236"/>
          <a:stretch/>
        </p:blipFill>
        <p:spPr>
          <a:xfrm>
            <a:off x="2157568" y="1877129"/>
            <a:ext cx="8141688" cy="4234669"/>
          </a:xfrm>
        </p:spPr>
      </p:pic>
      <p:sp>
        <p:nvSpPr>
          <p:cNvPr id="8" name="Title 1">
            <a:extLst>
              <a:ext uri="{FF2B5EF4-FFF2-40B4-BE49-F238E27FC236}">
                <a16:creationId xmlns:a16="http://schemas.microsoft.com/office/drawing/2014/main" id="{B138F87E-8190-1C97-995C-5F92D3546C62}"/>
              </a:ext>
            </a:extLst>
          </p:cNvPr>
          <p:cNvSpPr>
            <a:spLocks noGrp="1"/>
          </p:cNvSpPr>
          <p:nvPr>
            <p:ph type="title"/>
          </p:nvPr>
        </p:nvSpPr>
        <p:spPr>
          <a:xfrm>
            <a:off x="838200" y="365125"/>
            <a:ext cx="10515600" cy="1325563"/>
          </a:xfrm>
        </p:spPr>
        <p:txBody>
          <a:bodyPr>
            <a:normAutofit/>
          </a:bodyPr>
          <a:lstStyle/>
          <a:p>
            <a:r>
              <a:rPr lang="en-IN" sz="3600" dirty="0">
                <a:latin typeface="Times New Roman" panose="02020603050405020304" pitchFamily="18" charset="0"/>
                <a:cs typeface="Times New Roman" panose="02020603050405020304" pitchFamily="18" charset="0"/>
              </a:rPr>
              <a:t>Comparative characteristics of </a:t>
            </a:r>
            <a:r>
              <a:rPr lang="en-IN" sz="3600" b="1" dirty="0">
                <a:latin typeface="Times New Roman" panose="02020603050405020304" pitchFamily="18" charset="0"/>
                <a:cs typeface="Times New Roman" panose="02020603050405020304" pitchFamily="18" charset="0"/>
              </a:rPr>
              <a:t>Five Kingdom classification</a:t>
            </a:r>
          </a:p>
        </p:txBody>
      </p:sp>
    </p:spTree>
    <p:extLst>
      <p:ext uri="{BB962C8B-B14F-4D97-AF65-F5344CB8AC3E}">
        <p14:creationId xmlns:p14="http://schemas.microsoft.com/office/powerpoint/2010/main" val="908150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509BE-A4B3-C620-DB7C-1B91C8B1E827}"/>
              </a:ext>
            </a:extLst>
          </p:cNvPr>
          <p:cNvSpPr>
            <a:spLocks noGrp="1"/>
          </p:cNvSpPr>
          <p:nvPr>
            <p:ph type="title"/>
          </p:nvPr>
        </p:nvSpPr>
        <p:spPr/>
        <p:txBody>
          <a:bodyPr/>
          <a:lstStyle/>
          <a:p>
            <a:r>
              <a:rPr lang="en-IN" dirty="0"/>
              <a:t>CLASSIFICATION</a:t>
            </a:r>
          </a:p>
        </p:txBody>
      </p:sp>
      <p:sp>
        <p:nvSpPr>
          <p:cNvPr id="3" name="Content Placeholder 2">
            <a:extLst>
              <a:ext uri="{FF2B5EF4-FFF2-40B4-BE49-F238E27FC236}">
                <a16:creationId xmlns:a16="http://schemas.microsoft.com/office/drawing/2014/main" id="{C1B9EAC0-13C9-5E9A-330C-C8D552EDADB8}"/>
              </a:ext>
            </a:extLst>
          </p:cNvPr>
          <p:cNvSpPr>
            <a:spLocks noGrp="1"/>
          </p:cNvSpPr>
          <p:nvPr>
            <p:ph idx="1"/>
          </p:nvPr>
        </p:nvSpPr>
        <p:spPr/>
        <p:txBody>
          <a:bodyPr>
            <a:normAutofit/>
          </a:bodyPr>
          <a:lstStyle/>
          <a:p>
            <a:pPr algn="just"/>
            <a:r>
              <a:rPr lang="en-US" sz="1800" dirty="0">
                <a:latin typeface="Times New Roman" panose="02020603050405020304" pitchFamily="18" charset="0"/>
                <a:cs typeface="Times New Roman" panose="02020603050405020304" pitchFamily="18" charset="0"/>
              </a:rPr>
              <a:t>Biologists mapped the whole diversity of organisms exist on earth, into simple groups. To understand about the characteristics of specific organisms individually, is simply called classification.</a:t>
            </a:r>
          </a:p>
          <a:p>
            <a:pPr marL="0" indent="0" algn="ctr">
              <a:buNone/>
            </a:pPr>
            <a:r>
              <a:rPr lang="en-US" sz="1800" i="1" dirty="0">
                <a:latin typeface="Times New Roman" panose="02020603050405020304" pitchFamily="18" charset="0"/>
                <a:cs typeface="Times New Roman" panose="02020603050405020304" pitchFamily="18" charset="0"/>
              </a:rPr>
              <a:t>OR</a:t>
            </a:r>
          </a:p>
          <a:p>
            <a:pPr algn="just"/>
            <a:r>
              <a:rPr lang="en-US" sz="1800" dirty="0">
                <a:latin typeface="Times New Roman" panose="02020603050405020304" pitchFamily="18" charset="0"/>
                <a:cs typeface="Times New Roman" panose="02020603050405020304" pitchFamily="18" charset="0"/>
              </a:rPr>
              <a:t>Classification is actually based on the similar and dissimilar characteristics what organisms shared with each other and by this biologists can easily study and identify the organisms.</a:t>
            </a:r>
          </a:p>
          <a:p>
            <a:pPr marL="0" indent="0" algn="ctr">
              <a:buNone/>
            </a:pPr>
            <a:r>
              <a:rPr lang="en-US" sz="1800" i="1" dirty="0">
                <a:latin typeface="Times New Roman" panose="02020603050405020304" pitchFamily="18" charset="0"/>
                <a:cs typeface="Times New Roman" panose="02020603050405020304" pitchFamily="18" charset="0"/>
              </a:rPr>
              <a:t>OR</a:t>
            </a:r>
          </a:p>
          <a:p>
            <a:pPr algn="just"/>
            <a:r>
              <a:rPr lang="en-US" sz="1800" dirty="0">
                <a:latin typeface="Times New Roman" panose="02020603050405020304" pitchFamily="18" charset="0"/>
                <a:cs typeface="Times New Roman" panose="02020603050405020304" pitchFamily="18" charset="0"/>
              </a:rPr>
              <a:t>To study such a diverse pack of organism existing on earth, biologists classified the organisms into groups and sub groups. This grouping of organisms is called </a:t>
            </a:r>
            <a:r>
              <a:rPr lang="en-US" sz="1800" b="1" dirty="0">
                <a:latin typeface="Times New Roman" panose="02020603050405020304" pitchFamily="18" charset="0"/>
                <a:cs typeface="Times New Roman" panose="02020603050405020304" pitchFamily="18" charset="0"/>
              </a:rPr>
              <a:t>biological classification</a:t>
            </a:r>
            <a:r>
              <a:rPr lang="en-US" sz="1800" dirty="0">
                <a:latin typeface="Times New Roman" panose="02020603050405020304" pitchFamily="18" charset="0"/>
                <a:cs typeface="Times New Roman" panose="02020603050405020304" pitchFamily="18" charset="0"/>
              </a:rPr>
              <a:t>.</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69526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49697-46AE-F9E2-0F7F-7C75F071DE02}"/>
              </a:ext>
            </a:extLst>
          </p:cNvPr>
          <p:cNvSpPr>
            <a:spLocks noGrp="1"/>
          </p:cNvSpPr>
          <p:nvPr>
            <p:ph type="title"/>
          </p:nvPr>
        </p:nvSpPr>
        <p:spPr/>
        <p:txBody>
          <a:bodyPr/>
          <a:lstStyle/>
          <a:p>
            <a:r>
              <a:rPr lang="en-IN" dirty="0"/>
              <a:t>Taxonomy and Taxonomic Hierarchy</a:t>
            </a:r>
          </a:p>
        </p:txBody>
      </p:sp>
      <p:sp>
        <p:nvSpPr>
          <p:cNvPr id="3" name="Content Placeholder 2">
            <a:extLst>
              <a:ext uri="{FF2B5EF4-FFF2-40B4-BE49-F238E27FC236}">
                <a16:creationId xmlns:a16="http://schemas.microsoft.com/office/drawing/2014/main" id="{A4455C15-490D-DA98-9033-08324579E191}"/>
              </a:ext>
            </a:extLst>
          </p:cNvPr>
          <p:cNvSpPr>
            <a:spLocks noGrp="1"/>
          </p:cNvSpPr>
          <p:nvPr>
            <p:ph idx="1"/>
          </p:nvPr>
        </p:nvSpPr>
        <p:spPr/>
        <p:txBody>
          <a:bodyPr>
            <a:normAutofit/>
          </a:bodyPr>
          <a:lstStyle/>
          <a:p>
            <a:pPr algn="just"/>
            <a:r>
              <a:rPr lang="en-US" sz="1800" dirty="0">
                <a:latin typeface="Times New Roman" panose="02020603050405020304" pitchFamily="18" charset="0"/>
                <a:cs typeface="Times New Roman" panose="02020603050405020304" pitchFamily="18" charset="0"/>
              </a:rPr>
              <a:t>Biologists classified the organisms in order to make them study easily, so the science of classification is called </a:t>
            </a:r>
            <a:r>
              <a:rPr lang="en-US" sz="1800" b="1" dirty="0">
                <a:latin typeface="Times New Roman" panose="02020603050405020304" pitchFamily="18" charset="0"/>
                <a:cs typeface="Times New Roman" panose="02020603050405020304" pitchFamily="18" charset="0"/>
              </a:rPr>
              <a:t>Taxonomy</a:t>
            </a:r>
            <a:r>
              <a:rPr lang="en-US" sz="1800" dirty="0">
                <a:latin typeface="Times New Roman" panose="02020603050405020304" pitchFamily="18" charset="0"/>
                <a:cs typeface="Times New Roman" panose="02020603050405020304" pitchFamily="18" charset="0"/>
              </a:rPr>
              <a:t>. (Taxon=group, </a:t>
            </a:r>
            <a:r>
              <a:rPr lang="en-US" sz="1800" dirty="0" err="1">
                <a:latin typeface="Times New Roman" panose="02020603050405020304" pitchFamily="18" charset="0"/>
                <a:cs typeface="Times New Roman" panose="02020603050405020304" pitchFamily="18" charset="0"/>
              </a:rPr>
              <a:t>Nomy</a:t>
            </a:r>
            <a:r>
              <a:rPr lang="en-US" sz="1800" dirty="0">
                <a:latin typeface="Times New Roman" panose="02020603050405020304" pitchFamily="18" charset="0"/>
                <a:cs typeface="Times New Roman" panose="02020603050405020304" pitchFamily="18" charset="0"/>
              </a:rPr>
              <a:t>=naming).</a:t>
            </a:r>
          </a:p>
          <a:p>
            <a:pPr marL="0" indent="0" algn="ctr">
              <a:buNone/>
            </a:pPr>
            <a:r>
              <a:rPr lang="en-US" sz="1800" i="1" dirty="0">
                <a:latin typeface="Times New Roman" panose="02020603050405020304" pitchFamily="18" charset="0"/>
                <a:cs typeface="Times New Roman" panose="02020603050405020304" pitchFamily="18" charset="0"/>
              </a:rPr>
              <a:t>OR</a:t>
            </a:r>
          </a:p>
          <a:p>
            <a:pPr algn="just"/>
            <a:r>
              <a:rPr lang="en-US" sz="1800" b="1" dirty="0">
                <a:latin typeface="Times New Roman" panose="02020603050405020304" pitchFamily="18" charset="0"/>
                <a:cs typeface="Times New Roman" panose="02020603050405020304" pitchFamily="18" charset="0"/>
              </a:rPr>
              <a:t>Taxonomy </a:t>
            </a:r>
            <a:r>
              <a:rPr lang="en-US" sz="1800" dirty="0">
                <a:latin typeface="Times New Roman" panose="02020603050405020304" pitchFamily="18" charset="0"/>
                <a:cs typeface="Times New Roman" panose="02020603050405020304" pitchFamily="18" charset="0"/>
              </a:rPr>
              <a:t>can be defined as a branch of biology, which deals with the description, identification, classification and naming of living organisms according to structural similarities and dissimilarities.</a:t>
            </a:r>
          </a:p>
          <a:p>
            <a:pPr marL="0" indent="0" algn="just">
              <a:buNone/>
            </a:pPr>
            <a:endParaRPr lang="en-US"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The groups into which organisms are classified are known as taxonomic categories or taxa (singular taxon). The taxa are arranged in ascending order and form a ladder, called </a:t>
            </a:r>
            <a:r>
              <a:rPr lang="en-US" sz="1800" b="1" dirty="0">
                <a:latin typeface="Times New Roman" panose="02020603050405020304" pitchFamily="18" charset="0"/>
                <a:cs typeface="Times New Roman" panose="02020603050405020304" pitchFamily="18" charset="0"/>
              </a:rPr>
              <a:t>taxonomic hierarchy</a:t>
            </a:r>
            <a:r>
              <a:rPr lang="en-US" sz="1800" dirty="0">
                <a:latin typeface="Times New Roman" panose="02020603050405020304" pitchFamily="18" charset="0"/>
                <a:cs typeface="Times New Roman" panose="02020603050405020304" pitchFamily="18" charset="0"/>
              </a:rPr>
              <a:t>.</a:t>
            </a:r>
            <a:endParaRPr lang="en-IN" sz="1800" dirty="0">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226773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D5232-851F-7072-0575-21C9AB71C89D}"/>
              </a:ext>
            </a:extLst>
          </p:cNvPr>
          <p:cNvSpPr>
            <a:spLocks noGrp="1"/>
          </p:cNvSpPr>
          <p:nvPr>
            <p:ph type="title"/>
          </p:nvPr>
        </p:nvSpPr>
        <p:spPr/>
        <p:txBody>
          <a:bodyPr/>
          <a:lstStyle/>
          <a:p>
            <a:r>
              <a:rPr lang="en-IN" dirty="0"/>
              <a:t>AIMS OF CLASSIFICATION</a:t>
            </a:r>
          </a:p>
        </p:txBody>
      </p:sp>
      <p:sp>
        <p:nvSpPr>
          <p:cNvPr id="3" name="Content Placeholder 2">
            <a:extLst>
              <a:ext uri="{FF2B5EF4-FFF2-40B4-BE49-F238E27FC236}">
                <a16:creationId xmlns:a16="http://schemas.microsoft.com/office/drawing/2014/main" id="{19A0C955-122E-C94C-779F-6D1FCE1AACBE}"/>
              </a:ext>
            </a:extLst>
          </p:cNvPr>
          <p:cNvSpPr>
            <a:spLocks noGrp="1"/>
          </p:cNvSpPr>
          <p:nvPr>
            <p:ph idx="1"/>
          </p:nvPr>
        </p:nvSpPr>
        <p:spPr/>
        <p:txBody>
          <a:bodyPr>
            <a:normAutofit/>
          </a:bodyPr>
          <a:lstStyle/>
          <a:p>
            <a:pPr marL="0" indent="0" algn="just">
              <a:buNone/>
            </a:pPr>
            <a:r>
              <a:rPr lang="en-US" sz="1800" dirty="0">
                <a:latin typeface="Times New Roman" panose="02020603050405020304" pitchFamily="18" charset="0"/>
                <a:cs typeface="Times New Roman" panose="02020603050405020304" pitchFamily="18" charset="0"/>
              </a:rPr>
              <a:t>The main aims of this branch are:</a:t>
            </a:r>
          </a:p>
          <a:p>
            <a:pPr algn="just"/>
            <a:r>
              <a:rPr lang="en-US" sz="1800" dirty="0">
                <a:latin typeface="Times New Roman" panose="02020603050405020304" pitchFamily="18" charset="0"/>
                <a:cs typeface="Times New Roman" panose="02020603050405020304" pitchFamily="18" charset="0"/>
              </a:rPr>
              <a:t>To determine similarities and dissimilarities among organisms so that they can be studied easily.</a:t>
            </a:r>
          </a:p>
          <a:p>
            <a:pPr algn="just"/>
            <a:r>
              <a:rPr lang="en-US" sz="1800" dirty="0">
                <a:latin typeface="Times New Roman" panose="02020603050405020304" pitchFamily="18" charset="0"/>
                <a:cs typeface="Times New Roman" panose="02020603050405020304" pitchFamily="18" charset="0"/>
              </a:rPr>
              <a:t>To find the evolutionary relationship among organisms.</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113828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40661-63DC-E89D-56FE-D758502C2F24}"/>
              </a:ext>
            </a:extLst>
          </p:cNvPr>
          <p:cNvSpPr>
            <a:spLocks noGrp="1"/>
          </p:cNvSpPr>
          <p:nvPr>
            <p:ph type="title"/>
          </p:nvPr>
        </p:nvSpPr>
        <p:spPr/>
        <p:txBody>
          <a:bodyPr/>
          <a:lstStyle/>
          <a:p>
            <a:r>
              <a:rPr lang="en-US" dirty="0"/>
              <a:t>BASIS AND PRINCIPLES OF CLASSIFICATION</a:t>
            </a:r>
            <a:endParaRPr lang="en-IN" dirty="0"/>
          </a:p>
        </p:txBody>
      </p:sp>
      <p:sp>
        <p:nvSpPr>
          <p:cNvPr id="3" name="Content Placeholder 2">
            <a:extLst>
              <a:ext uri="{FF2B5EF4-FFF2-40B4-BE49-F238E27FC236}">
                <a16:creationId xmlns:a16="http://schemas.microsoft.com/office/drawing/2014/main" id="{4D7739A1-140D-11A9-24CE-445E0407607D}"/>
              </a:ext>
            </a:extLst>
          </p:cNvPr>
          <p:cNvSpPr>
            <a:spLocks noGrp="1"/>
          </p:cNvSpPr>
          <p:nvPr>
            <p:ph idx="1"/>
          </p:nvPr>
        </p:nvSpPr>
        <p:spPr/>
        <p:txBody>
          <a:bodyPr>
            <a:normAutofit fontScale="62500" lnSpcReduction="20000"/>
          </a:bodyPr>
          <a:lstStyle/>
          <a:p>
            <a:pPr marL="0" indent="0" algn="just">
              <a:buNone/>
            </a:pPr>
            <a:r>
              <a:rPr lang="en-US" dirty="0">
                <a:latin typeface="Times New Roman" panose="02020603050405020304" pitchFamily="18" charset="0"/>
                <a:cs typeface="Times New Roman" panose="02020603050405020304" pitchFamily="18" charset="0"/>
              </a:rPr>
              <a:t>A system of classification is necessary because of the abundance of the variety of life on earth. There are currently around 1.5 million species that have been described and have been given scientific names. Some times it is impossible to classify organisms using external feature, therefore scientists use other characteristics to classify organisms.</a:t>
            </a:r>
          </a:p>
          <a:p>
            <a:pPr marL="0" indent="0" algn="just">
              <a:buNone/>
            </a:pPr>
            <a:r>
              <a:rPr lang="en-US" dirty="0">
                <a:latin typeface="Times New Roman" panose="02020603050405020304" pitchFamily="18" charset="0"/>
                <a:cs typeface="Times New Roman" panose="02020603050405020304" pitchFamily="18" charset="0"/>
              </a:rPr>
              <a:t>Following basis and principle are used to classify living organism:</a:t>
            </a:r>
          </a:p>
          <a:p>
            <a:pPr marL="514350" indent="-514350" algn="just">
              <a:buFont typeface="+mj-lt"/>
              <a:buAutoNum type="arabicPeriod"/>
            </a:pPr>
            <a:r>
              <a:rPr lang="en-US" b="1" dirty="0">
                <a:latin typeface="Times New Roman" panose="02020603050405020304" pitchFamily="18" charset="0"/>
                <a:cs typeface="Times New Roman" panose="02020603050405020304" pitchFamily="18" charset="0"/>
              </a:rPr>
              <a:t>Morphological Structure</a:t>
            </a:r>
            <a:r>
              <a:rPr lang="en-US" dirty="0">
                <a:latin typeface="Times New Roman" panose="02020603050405020304" pitchFamily="18" charset="0"/>
                <a:cs typeface="Times New Roman" panose="02020603050405020304" pitchFamily="18" charset="0"/>
              </a:rPr>
              <a:t>: Some organisms share similar fundamental characteristics or functions. It is further explained by means of Morphology (external features of an organism) in which we study the organisms on the basis of their:  </a:t>
            </a:r>
          </a:p>
          <a:p>
            <a:pPr marL="0" indent="0" algn="just">
              <a:buNone/>
            </a:pPr>
            <a:r>
              <a:rPr lang="en-US" b="1" dirty="0">
                <a:latin typeface="Times New Roman" panose="02020603050405020304" pitchFamily="18" charset="0"/>
                <a:cs typeface="Times New Roman" panose="02020603050405020304" pitchFamily="18" charset="0"/>
              </a:rPr>
              <a:t>Homologous </a:t>
            </a:r>
            <a:r>
              <a:rPr lang="en-US" dirty="0">
                <a:latin typeface="Times New Roman" panose="02020603050405020304" pitchFamily="18" charset="0"/>
                <a:cs typeface="Times New Roman" panose="02020603050405020304" pitchFamily="18" charset="0"/>
              </a:rPr>
              <a:t>are organs of different organisms which are similar in structure and have different functions e.g. The arm of a Human being and wings of a bird or bat, Arm of Human, cat, bat and flipper of whale. </a:t>
            </a:r>
          </a:p>
          <a:p>
            <a:pPr marL="0" indent="0" algn="just">
              <a:buNone/>
            </a:pPr>
            <a:r>
              <a:rPr lang="en-US" b="1" dirty="0">
                <a:latin typeface="Times New Roman" panose="02020603050405020304" pitchFamily="18" charset="0"/>
                <a:cs typeface="Times New Roman" panose="02020603050405020304" pitchFamily="18" charset="0"/>
              </a:rPr>
              <a:t>Analogous</a:t>
            </a:r>
            <a:r>
              <a:rPr lang="en-US" dirty="0">
                <a:latin typeface="Times New Roman" panose="02020603050405020304" pitchFamily="18" charset="0"/>
                <a:cs typeface="Times New Roman" panose="02020603050405020304" pitchFamily="18" charset="0"/>
              </a:rPr>
              <a:t> are organs of different organisms which are different in structure and have same functions. e.g. Wings of Butterfly and Bat. </a:t>
            </a:r>
          </a:p>
          <a:p>
            <a:pPr marL="514350" indent="-514350" algn="just">
              <a:buFont typeface="+mj-lt"/>
              <a:buAutoNum type="arabicPeriod"/>
            </a:pPr>
            <a:r>
              <a:rPr lang="en-US" b="1" dirty="0">
                <a:latin typeface="Times New Roman" panose="02020603050405020304" pitchFamily="18" charset="0"/>
                <a:cs typeface="Times New Roman" panose="02020603050405020304" pitchFamily="18" charset="0"/>
              </a:rPr>
              <a:t>Cytology</a:t>
            </a:r>
            <a:r>
              <a:rPr lang="en-US" dirty="0">
                <a:latin typeface="Times New Roman" panose="02020603050405020304" pitchFamily="18" charset="0"/>
                <a:cs typeface="Times New Roman" panose="02020603050405020304" pitchFamily="18" charset="0"/>
              </a:rPr>
              <a:t>: in which organisms are classified on the basis of cellular study.</a:t>
            </a:r>
          </a:p>
          <a:p>
            <a:pPr marL="514350" indent="-514350" algn="just">
              <a:buFont typeface="+mj-lt"/>
              <a:buAutoNum type="arabicPeriod"/>
            </a:pPr>
            <a:r>
              <a:rPr lang="en-US" b="1" dirty="0">
                <a:latin typeface="Times New Roman" panose="02020603050405020304" pitchFamily="18" charset="0"/>
                <a:cs typeface="Times New Roman" panose="02020603050405020304" pitchFamily="18" charset="0"/>
              </a:rPr>
              <a:t>Genetics</a:t>
            </a:r>
            <a:r>
              <a:rPr lang="en-US" dirty="0">
                <a:latin typeface="Times New Roman" panose="02020603050405020304" pitchFamily="18" charset="0"/>
                <a:cs typeface="Times New Roman" panose="02020603050405020304" pitchFamily="18" charset="0"/>
              </a:rPr>
              <a:t>: in which organisms are classified on the basis of genetic constitution and their development pattern.</a:t>
            </a:r>
          </a:p>
          <a:p>
            <a:pPr marL="514350" indent="-514350" algn="just">
              <a:buFont typeface="+mj-lt"/>
              <a:buAutoNum type="arabicPeriod"/>
            </a:pPr>
            <a:r>
              <a:rPr lang="en-US" b="1" dirty="0">
                <a:latin typeface="Times New Roman" panose="02020603050405020304" pitchFamily="18" charset="0"/>
                <a:cs typeface="Times New Roman" panose="02020603050405020304" pitchFamily="18" charset="0"/>
              </a:rPr>
              <a:t>Biochemistry</a:t>
            </a:r>
            <a:r>
              <a:rPr lang="en-US" dirty="0">
                <a:latin typeface="Times New Roman" panose="02020603050405020304" pitchFamily="18" charset="0"/>
                <a:cs typeface="Times New Roman" panose="02020603050405020304" pitchFamily="18" charset="0"/>
              </a:rPr>
              <a:t>: Biochemistry is also employed in which the chemical substances of the organisms are compared.</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40581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BFC5A443-DC30-FA57-68E2-C5FCF690623D}"/>
              </a:ext>
            </a:extLst>
          </p:cNvPr>
          <p:cNvPicPr>
            <a:picLocks noGrp="1" noChangeAspect="1"/>
          </p:cNvPicPr>
          <p:nvPr>
            <p:ph idx="1"/>
          </p:nvPr>
        </p:nvPicPr>
        <p:blipFill>
          <a:blip r:embed="rId2"/>
          <a:stretch>
            <a:fillRect/>
          </a:stretch>
        </p:blipFill>
        <p:spPr>
          <a:xfrm>
            <a:off x="838200" y="2039836"/>
            <a:ext cx="10515600" cy="3957422"/>
          </a:xfrm>
          <a:prstGeom prst="rect">
            <a:avLst/>
          </a:prstGeom>
        </p:spPr>
      </p:pic>
      <p:pic>
        <p:nvPicPr>
          <p:cNvPr id="5" name="Picture 4">
            <a:extLst>
              <a:ext uri="{FF2B5EF4-FFF2-40B4-BE49-F238E27FC236}">
                <a16:creationId xmlns:a16="http://schemas.microsoft.com/office/drawing/2014/main" id="{AB1FE62F-7189-F515-4069-94C2BB62BB59}"/>
              </a:ext>
            </a:extLst>
          </p:cNvPr>
          <p:cNvPicPr>
            <a:picLocks noChangeAspect="1"/>
          </p:cNvPicPr>
          <p:nvPr/>
        </p:nvPicPr>
        <p:blipFill>
          <a:blip r:embed="rId3"/>
          <a:stretch>
            <a:fillRect/>
          </a:stretch>
        </p:blipFill>
        <p:spPr>
          <a:xfrm>
            <a:off x="587331" y="219393"/>
            <a:ext cx="10766469" cy="1780186"/>
          </a:xfrm>
          <a:prstGeom prst="rect">
            <a:avLst/>
          </a:prstGeom>
        </p:spPr>
      </p:pic>
    </p:spTree>
    <p:extLst>
      <p:ext uri="{BB962C8B-B14F-4D97-AF65-F5344CB8AC3E}">
        <p14:creationId xmlns:p14="http://schemas.microsoft.com/office/powerpoint/2010/main" val="10407521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7DD654-0FE5-EC69-6BC7-8D706726C9ED}"/>
              </a:ext>
            </a:extLst>
          </p:cNvPr>
          <p:cNvSpPr>
            <a:spLocks noGrp="1"/>
          </p:cNvSpPr>
          <p:nvPr>
            <p:ph type="title"/>
          </p:nvPr>
        </p:nvSpPr>
        <p:spPr>
          <a:xfrm>
            <a:off x="838200" y="388129"/>
            <a:ext cx="10515600" cy="1325563"/>
          </a:xfrm>
        </p:spPr>
        <p:txBody>
          <a:bodyPr/>
          <a:lstStyle/>
          <a:p>
            <a:r>
              <a:rPr lang="en-US" dirty="0"/>
              <a:t>Ladder of Taxonomic hierarchy OR Units of classification</a:t>
            </a:r>
            <a:endParaRPr lang="en-IN" dirty="0"/>
          </a:p>
        </p:txBody>
      </p:sp>
      <p:sp>
        <p:nvSpPr>
          <p:cNvPr id="3" name="Content Placeholder 2">
            <a:extLst>
              <a:ext uri="{FF2B5EF4-FFF2-40B4-BE49-F238E27FC236}">
                <a16:creationId xmlns:a16="http://schemas.microsoft.com/office/drawing/2014/main" id="{B1B614CA-3F12-26CE-99E3-003E25B224A3}"/>
              </a:ext>
            </a:extLst>
          </p:cNvPr>
          <p:cNvSpPr>
            <a:spLocks noGrp="1"/>
          </p:cNvSpPr>
          <p:nvPr>
            <p:ph idx="1"/>
          </p:nvPr>
        </p:nvSpPr>
        <p:spPr/>
        <p:txBody>
          <a:bodyPr>
            <a:normAutofit/>
          </a:bodyPr>
          <a:lstStyle/>
          <a:p>
            <a:pPr marL="0" indent="0" algn="just">
              <a:buNone/>
            </a:pPr>
            <a:r>
              <a:rPr lang="en-US" sz="1800" dirty="0">
                <a:latin typeface="Times New Roman" panose="02020603050405020304" pitchFamily="18" charset="0"/>
                <a:cs typeface="Times New Roman" panose="02020603050405020304" pitchFamily="18" charset="0"/>
              </a:rPr>
              <a:t>Following are the units of Classification:</a:t>
            </a:r>
          </a:p>
          <a:p>
            <a:pPr algn="just"/>
            <a:r>
              <a:rPr lang="en-US" sz="1800" b="1" dirty="0">
                <a:latin typeface="Times New Roman" panose="02020603050405020304" pitchFamily="18" charset="0"/>
                <a:cs typeface="Times New Roman" panose="02020603050405020304" pitchFamily="18" charset="0"/>
              </a:rPr>
              <a:t>Species:</a:t>
            </a:r>
            <a:r>
              <a:rPr lang="en-US" sz="1800" dirty="0">
                <a:latin typeface="Times New Roman" panose="02020603050405020304" pitchFamily="18" charset="0"/>
                <a:cs typeface="Times New Roman" panose="02020603050405020304" pitchFamily="18" charset="0"/>
              </a:rPr>
              <a:t> The smallest and basic unit of classification is species. Taxonomic studies consider a group of individual organisms with the fundamental similarities as a species. Thus, all the members of the particular species share the similar structure and characteristics and can naturally interbreed to produce a fertile offspring. Each species possesses its own distinct structural, ecological and behavioral characteristics.</a:t>
            </a:r>
          </a:p>
          <a:p>
            <a:pPr algn="just"/>
            <a:r>
              <a:rPr lang="en-US" sz="1800" b="1" dirty="0">
                <a:latin typeface="Times New Roman" panose="02020603050405020304" pitchFamily="18" charset="0"/>
                <a:cs typeface="Times New Roman" panose="02020603050405020304" pitchFamily="18" charset="0"/>
              </a:rPr>
              <a:t>Genera</a:t>
            </a:r>
            <a:r>
              <a:rPr lang="en-US" sz="1800" dirty="0">
                <a:latin typeface="Times New Roman" panose="02020603050405020304" pitchFamily="18" charset="0"/>
                <a:cs typeface="Times New Roman" panose="02020603050405020304" pitchFamily="18" charset="0"/>
              </a:rPr>
              <a:t>: Closely related species are grouped together into genera (singular-genus).</a:t>
            </a:r>
          </a:p>
          <a:p>
            <a:pPr algn="just"/>
            <a:r>
              <a:rPr lang="en-US" sz="1800" b="1" dirty="0">
                <a:latin typeface="Times New Roman" panose="02020603050405020304" pitchFamily="18" charset="0"/>
                <a:cs typeface="Times New Roman" panose="02020603050405020304" pitchFamily="18" charset="0"/>
              </a:rPr>
              <a:t>Families</a:t>
            </a:r>
            <a:r>
              <a:rPr lang="en-US" sz="1800" dirty="0">
                <a:latin typeface="Times New Roman" panose="02020603050405020304" pitchFamily="18" charset="0"/>
                <a:cs typeface="Times New Roman" panose="02020603050405020304" pitchFamily="18" charset="0"/>
              </a:rPr>
              <a:t>: Similar genera are grouped together into families.</a:t>
            </a:r>
          </a:p>
          <a:p>
            <a:pPr algn="just"/>
            <a:r>
              <a:rPr lang="en-US" sz="1800" b="1" dirty="0">
                <a:latin typeface="Times New Roman" panose="02020603050405020304" pitchFamily="18" charset="0"/>
                <a:cs typeface="Times New Roman" panose="02020603050405020304" pitchFamily="18" charset="0"/>
              </a:rPr>
              <a:t>Orders</a:t>
            </a:r>
            <a:r>
              <a:rPr lang="en-US" sz="1800" dirty="0">
                <a:latin typeface="Times New Roman" panose="02020603050405020304" pitchFamily="18" charset="0"/>
                <a:cs typeface="Times New Roman" panose="02020603050405020304" pitchFamily="18" charset="0"/>
              </a:rPr>
              <a:t>: Families are grouped together into orders.</a:t>
            </a:r>
          </a:p>
          <a:p>
            <a:pPr algn="just"/>
            <a:r>
              <a:rPr lang="en-US" sz="1800" b="1" dirty="0">
                <a:latin typeface="Times New Roman" panose="02020603050405020304" pitchFamily="18" charset="0"/>
                <a:cs typeface="Times New Roman" panose="02020603050405020304" pitchFamily="18" charset="0"/>
              </a:rPr>
              <a:t>Classes</a:t>
            </a:r>
            <a:r>
              <a:rPr lang="en-US" sz="1800" dirty="0">
                <a:latin typeface="Times New Roman" panose="02020603050405020304" pitchFamily="18" charset="0"/>
                <a:cs typeface="Times New Roman" panose="02020603050405020304" pitchFamily="18" charset="0"/>
              </a:rPr>
              <a:t>: Orders are grouped together into classes.</a:t>
            </a:r>
          </a:p>
          <a:p>
            <a:pPr algn="just"/>
            <a:r>
              <a:rPr lang="en-US" sz="1800" b="1" dirty="0">
                <a:latin typeface="Times New Roman" panose="02020603050405020304" pitchFamily="18" charset="0"/>
                <a:cs typeface="Times New Roman" panose="02020603050405020304" pitchFamily="18" charset="0"/>
              </a:rPr>
              <a:t>Phyla or Division</a:t>
            </a:r>
            <a:r>
              <a:rPr lang="en-US" sz="1800" dirty="0">
                <a:latin typeface="Times New Roman" panose="02020603050405020304" pitchFamily="18" charset="0"/>
                <a:cs typeface="Times New Roman" panose="02020603050405020304" pitchFamily="18" charset="0"/>
              </a:rPr>
              <a:t>: Classes are grouped together into phyla or division.</a:t>
            </a:r>
          </a:p>
          <a:p>
            <a:pPr algn="just"/>
            <a:r>
              <a:rPr lang="en-US" sz="1800" b="1" dirty="0">
                <a:latin typeface="Times New Roman" panose="02020603050405020304" pitchFamily="18" charset="0"/>
                <a:cs typeface="Times New Roman" panose="02020603050405020304" pitchFamily="18" charset="0"/>
              </a:rPr>
              <a:t>Kingdom</a:t>
            </a:r>
            <a:r>
              <a:rPr lang="en-US" sz="1800" dirty="0">
                <a:latin typeface="Times New Roman" panose="02020603050405020304" pitchFamily="18" charset="0"/>
                <a:cs typeface="Times New Roman" panose="02020603050405020304" pitchFamily="18" charset="0"/>
              </a:rPr>
              <a:t>: The kingdom is the highest taxon of classification. Phyla or Division are grouped together into kingdoms. All organisms are classified into five kingdoms. On the basis of similarities, each kingdom is further divided into smaller taxa. (Phyla - Species)</a:t>
            </a:r>
          </a:p>
          <a:p>
            <a:pPr algn="just"/>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30368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8F7F171-ED81-71D6-E2C7-F6C560624674}"/>
              </a:ext>
            </a:extLst>
          </p:cNvPr>
          <p:cNvPicPr>
            <a:picLocks noChangeAspect="1"/>
          </p:cNvPicPr>
          <p:nvPr/>
        </p:nvPicPr>
        <p:blipFill>
          <a:blip r:embed="rId2"/>
          <a:stretch>
            <a:fillRect/>
          </a:stretch>
        </p:blipFill>
        <p:spPr>
          <a:xfrm>
            <a:off x="2702648" y="2050813"/>
            <a:ext cx="6924726" cy="3371875"/>
          </a:xfrm>
          <a:prstGeom prst="rect">
            <a:avLst/>
          </a:prstGeom>
        </p:spPr>
      </p:pic>
      <p:sp>
        <p:nvSpPr>
          <p:cNvPr id="6" name="Title 1">
            <a:extLst>
              <a:ext uri="{FF2B5EF4-FFF2-40B4-BE49-F238E27FC236}">
                <a16:creationId xmlns:a16="http://schemas.microsoft.com/office/drawing/2014/main" id="{2161DE0F-85FB-C5BA-34CF-113359A9B17B}"/>
              </a:ext>
            </a:extLst>
          </p:cNvPr>
          <p:cNvSpPr>
            <a:spLocks noGrp="1"/>
          </p:cNvSpPr>
          <p:nvPr>
            <p:ph type="title"/>
          </p:nvPr>
        </p:nvSpPr>
        <p:spPr>
          <a:xfrm>
            <a:off x="838200" y="417650"/>
            <a:ext cx="10515600" cy="1325563"/>
          </a:xfrm>
        </p:spPr>
        <p:txBody>
          <a:bodyPr/>
          <a:lstStyle/>
          <a:p>
            <a:r>
              <a:rPr lang="en-US" dirty="0"/>
              <a:t>Ladder of Taxonomic hierarchy OR Units of classification</a:t>
            </a:r>
            <a:endParaRPr lang="en-IN" dirty="0"/>
          </a:p>
        </p:txBody>
      </p:sp>
      <p:sp>
        <p:nvSpPr>
          <p:cNvPr id="10" name="TextBox 9">
            <a:extLst>
              <a:ext uri="{FF2B5EF4-FFF2-40B4-BE49-F238E27FC236}">
                <a16:creationId xmlns:a16="http://schemas.microsoft.com/office/drawing/2014/main" id="{BE4BDA03-3EF7-F04A-EB7F-8495974ECC66}"/>
              </a:ext>
            </a:extLst>
          </p:cNvPr>
          <p:cNvSpPr txBox="1"/>
          <p:nvPr/>
        </p:nvSpPr>
        <p:spPr>
          <a:xfrm>
            <a:off x="4071668" y="5545622"/>
            <a:ext cx="4756031" cy="369332"/>
          </a:xfrm>
          <a:prstGeom prst="rect">
            <a:avLst/>
          </a:prstGeom>
          <a:noFill/>
        </p:spPr>
        <p:txBody>
          <a:bodyPr wrap="square" rtlCol="0">
            <a:spAutoFit/>
          </a:bodyPr>
          <a:lstStyle/>
          <a:p>
            <a:r>
              <a:rPr lang="en-IN" b="1" dirty="0"/>
              <a:t>Figure</a:t>
            </a:r>
            <a:r>
              <a:rPr lang="en-IN" dirty="0"/>
              <a:t>: Simple Classification of Human and Pea.</a:t>
            </a:r>
          </a:p>
        </p:txBody>
      </p:sp>
    </p:spTree>
    <p:extLst>
      <p:ext uri="{BB962C8B-B14F-4D97-AF65-F5344CB8AC3E}">
        <p14:creationId xmlns:p14="http://schemas.microsoft.com/office/powerpoint/2010/main" val="13538081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TotalTime>
  <Words>1229</Words>
  <Application>Microsoft Office PowerPoint</Application>
  <PresentationFormat>Widescreen</PresentationFormat>
  <Paragraphs>85</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Calibri Light</vt:lpstr>
      <vt:lpstr>Times New Roman</vt:lpstr>
      <vt:lpstr>Office Theme</vt:lpstr>
      <vt:lpstr>KINGDOMS OF CLASSIFICATION</vt:lpstr>
      <vt:lpstr>HISTORY OF CLASSIFICATION</vt:lpstr>
      <vt:lpstr>HISTORY OF CLASSIFICATION</vt:lpstr>
      <vt:lpstr>HISTORY OF CLASSIFICATION</vt:lpstr>
      <vt:lpstr>HISTORY OF CLASSIFICATION</vt:lpstr>
      <vt:lpstr>HISTORY OF CLASSIFICATION</vt:lpstr>
      <vt:lpstr>HISTORY OF CLASSIFICATION</vt:lpstr>
      <vt:lpstr>HISTORY OF CLASSIFICATION</vt:lpstr>
      <vt:lpstr>HISTORY OF CLASSIFICATION</vt:lpstr>
      <vt:lpstr>Comparative characteristics of Five Kingdom classification</vt:lpstr>
      <vt:lpstr>CLASSIFICATION</vt:lpstr>
      <vt:lpstr>Taxonomy and Taxonomic Hierarchy</vt:lpstr>
      <vt:lpstr>AIMS OF CLASSIFICATION</vt:lpstr>
      <vt:lpstr>BASIS AND PRINCIPLES OF CLASSIFICATION</vt:lpstr>
      <vt:lpstr>PowerPoint Presentation</vt:lpstr>
      <vt:lpstr>Ladder of Taxonomic hierarchy OR Units of classification</vt:lpstr>
      <vt:lpstr>Ladder of Taxonomic hierarchy OR Units of classification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Porag Borborah</dc:creator>
  <cp:lastModifiedBy>Deepshikha Keot</cp:lastModifiedBy>
  <cp:revision>3</cp:revision>
  <dcterms:created xsi:type="dcterms:W3CDTF">2025-02-20T15:03:11Z</dcterms:created>
  <dcterms:modified xsi:type="dcterms:W3CDTF">2025-03-13T13:04:32Z</dcterms:modified>
</cp:coreProperties>
</file>