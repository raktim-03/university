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Montserrat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5AC2925-0298-4620-86BD-4CE86A8F8210}">
  <a:tblStyle styleId="{E5AC2925-0298-4620-86BD-4CE86A8F821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7" y="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24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7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30.png"/><Relationship Id="rId5" Type="http://schemas.openxmlformats.org/officeDocument/2006/relationships/image" Target="../media/image10.png"/><Relationship Id="rId10" Type="http://schemas.openxmlformats.org/officeDocument/2006/relationships/image" Target="../media/image29.png"/><Relationship Id="rId4" Type="http://schemas.openxmlformats.org/officeDocument/2006/relationships/image" Target="../media/image4.png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2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3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4574678"/>
            <a:ext cx="11239500" cy="105340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333500" y="1229766"/>
            <a:ext cx="10858500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Digital Front Desk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System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952500" y="1229766"/>
            <a:ext cx="76200" cy="1508521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952500" y="3195488"/>
            <a:ext cx="112395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Modernizing Patient Management for Private Hospitals in India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952500" y="5079503"/>
            <a:ext cx="2286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Software Engineering (CO311)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810000" y="5079503"/>
            <a:ext cx="17049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CSB23010 | CSB23012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3810038" y="5731894"/>
            <a:ext cx="17049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CSB23016 | CSB23017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086474" y="5079503"/>
            <a:ext cx="1414795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Autumn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25</a:t>
            </a:r>
            <a:r>
              <a:rPr lang="en-US" sz="1350" b="1" baseline="30000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th</a:t>
            </a:r>
            <a:r>
              <a:rPr lang="en-US" sz="1350" b="1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November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2025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16" y="0"/>
            <a:ext cx="1219200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91400" y="2300287"/>
            <a:ext cx="40386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762000" y="381000"/>
            <a:ext cx="588573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THE PROBLEM STATEMENT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1410950" y="666750"/>
            <a:ext cx="209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62000" y="2410866"/>
            <a:ext cx="60579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"Traditional processes consist of disconnected steps... increasing the risk of critical errors."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86650" y="2395537"/>
            <a:ext cx="1695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1047750" y="3427958"/>
            <a:ext cx="57721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Fragmented Workflows: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Disconnect between reception, billing, and clinical staff.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047750" y="4151858"/>
            <a:ext cx="5772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Manual Data Entry: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High risk of clerical errors in patient records.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47750" y="4570958"/>
            <a:ext cx="5772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Inefficiency: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Long wait times lead to patient dissatisfaction.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047750" y="4990058"/>
            <a:ext cx="57721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Compliance Gaps: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Difficulty adhering to NDHM standards with paper files.</a:t>
            </a:r>
            <a:endParaRPr/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346605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18995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60905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502815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91400" y="1417433"/>
            <a:ext cx="4497300" cy="449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529929"/>
            <a:ext cx="3365450" cy="2874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13200" y="2529929"/>
            <a:ext cx="3365450" cy="2874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64400" y="2529929"/>
            <a:ext cx="3365450" cy="287446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762000" y="381000"/>
            <a:ext cx="4810601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THE SOLUTION SCOPE</a:t>
            </a:r>
            <a:endParaRPr/>
          </a:p>
        </p:txBody>
      </p:sp>
      <p:pic>
        <p:nvPicPr>
          <p:cNvPr id="125" name="Google Shape;12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63650" y="282520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987902" y="3825329"/>
            <a:ext cx="291364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Receptionist Module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1057275" y="4234904"/>
            <a:ext cx="27749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 specialized, web-based interface designed strictly for front-desk efficiency, not a full HIS replacement.</a:t>
            </a:r>
            <a:endParaRPr/>
          </a:p>
        </p:txBody>
      </p:sp>
      <p:pic>
        <p:nvPicPr>
          <p:cNvPr id="128" name="Google Shape;128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4851" y="282520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4639102" y="3825329"/>
            <a:ext cx="291364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Integration Hub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4708475" y="4234904"/>
            <a:ext cx="27749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Acts as the bridge between HIS, LIS, Payment Gateways, and NDHM/ABDM national services.</a:t>
            </a:r>
            <a:endParaRPr/>
          </a:p>
        </p:txBody>
      </p:sp>
      <p:pic>
        <p:nvPicPr>
          <p:cNvPr id="131" name="Google Shape;13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366051" y="282520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8290303" y="3825329"/>
            <a:ext cx="291364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Core Functions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8359675" y="4234904"/>
            <a:ext cx="27749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Streamlines Appointments, Registration, Queues, Billing Initiation, and Communications.</a:t>
            </a:r>
            <a:endParaRPr/>
          </a:p>
        </p:txBody>
      </p:sp>
      <p:pic>
        <p:nvPicPr>
          <p:cNvPr id="134" name="Google Shape;134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187475" y="2977604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38676" y="2977604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547026" y="2977604"/>
            <a:ext cx="4000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1457325"/>
            <a:ext cx="5048250" cy="501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457325"/>
            <a:ext cx="5048250" cy="501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762000" y="381000"/>
            <a:ext cx="8636079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REGISTRATION &amp; QUEUE MANAGEMENT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1466850" y="1876425"/>
            <a:ext cx="41505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Patient Registration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152525" y="248602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Standardizing entry with NDHM compliance.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7200900" y="1876425"/>
            <a:ext cx="403050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Queue Management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772275" y="248602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Reducing chaos in waiting areas.</a:t>
            </a:r>
            <a:endParaRPr/>
          </a:p>
        </p:txBody>
      </p:sp>
      <p:pic>
        <p:nvPicPr>
          <p:cNvPr id="151" name="Google Shape;15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2525" y="1900237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1438275" y="3086100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Captures Demographics &amp; ID Proofs securely.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1438275" y="3505200"/>
            <a:ext cx="398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ABHA Integration: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Auto-generates or links Health IDs.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1438275" y="4229100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Assigns unique Medical Record Number (MRN).</a:t>
            </a:r>
            <a:endParaRPr/>
          </a:p>
        </p:txBody>
      </p:sp>
      <p:pic>
        <p:nvPicPr>
          <p:cNvPr id="155" name="Google Shape;15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2275" y="1900237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7058025" y="3086100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Auto-generates sequential tokens.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7058025" y="3505200"/>
            <a:ext cx="398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Real-time Sync: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Updates waiting room screens instantly.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7058025" y="4229100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Automated SMS/WhatsApp notifications.</a:t>
            </a:r>
            <a:endParaRPr/>
          </a:p>
        </p:txBody>
      </p:sp>
      <p:pic>
        <p:nvPicPr>
          <p:cNvPr id="159" name="Google Shape;159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52525" y="31242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52525" y="35433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52525" y="42672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72275" y="31242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72275" y="35433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72275" y="426720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1457325"/>
            <a:ext cx="5048250" cy="501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457325"/>
            <a:ext cx="5048250" cy="501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 txBox="1"/>
          <p:nvPr/>
        </p:nvSpPr>
        <p:spPr>
          <a:xfrm>
            <a:off x="762000" y="381000"/>
            <a:ext cx="803100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BILLING &amp; INSURANCE VERIFICATION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1552575" y="1876425"/>
            <a:ext cx="406050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Billing Initiation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1152525" y="248602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Capturing revenue before care begins.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7086600" y="1876425"/>
            <a:ext cx="41505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Insurance Check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6772275" y="248602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Preventing claim rejections.</a:t>
            </a:r>
            <a:endParaRPr/>
          </a:p>
        </p:txBody>
      </p:sp>
      <p:pic>
        <p:nvPicPr>
          <p:cNvPr id="179" name="Google Shape;17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2525" y="1900237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/>
        </p:nvSpPr>
        <p:spPr>
          <a:xfrm>
            <a:off x="1438275" y="3086100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Creates "Provisional Bills" at the front desk.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1438275" y="3505200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Accepts multi-mode payments (Cash, UPI, Card).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1438275" y="3924300"/>
            <a:ext cx="398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Reconciles immediately with HIS finance modules.</a:t>
            </a:r>
            <a:endParaRPr/>
          </a:p>
        </p:txBody>
      </p:sp>
      <p:pic>
        <p:nvPicPr>
          <p:cNvPr id="183" name="Google Shape;183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2275" y="1900237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/>
          <p:cNvSpPr txBox="1"/>
          <p:nvPr/>
        </p:nvSpPr>
        <p:spPr>
          <a:xfrm>
            <a:off x="7058025" y="3086100"/>
            <a:ext cx="398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Real-time Eligibility: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API-based coverage checks.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7058025" y="3810000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Supports AB-PMJAY government schemes.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7058025" y="4229100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Automated pre-authorization workflows.</a:t>
            </a:r>
            <a:endParaRPr/>
          </a:p>
        </p:txBody>
      </p:sp>
      <p:pic>
        <p:nvPicPr>
          <p:cNvPr id="187" name="Google Shape;187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52525" y="31242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52525" y="35433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52525" y="39624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72275" y="31242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72275" y="38481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72275" y="426720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529929"/>
            <a:ext cx="3365450" cy="2874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13200" y="2529929"/>
            <a:ext cx="3365450" cy="2874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64400" y="2529929"/>
            <a:ext cx="3365450" cy="287446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8"/>
          <p:cNvSpPr txBox="1"/>
          <p:nvPr/>
        </p:nvSpPr>
        <p:spPr>
          <a:xfrm>
            <a:off x="762000" y="381000"/>
            <a:ext cx="7615951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NON-FUNCTIONAL REQUIREMENTS</a:t>
            </a:r>
            <a:endParaRPr/>
          </a:p>
        </p:txBody>
      </p:sp>
      <p:pic>
        <p:nvPicPr>
          <p:cNvPr id="204" name="Google Shape;204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63650" y="282520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8"/>
          <p:cNvSpPr txBox="1"/>
          <p:nvPr/>
        </p:nvSpPr>
        <p:spPr>
          <a:xfrm>
            <a:off x="987902" y="3825329"/>
            <a:ext cx="291364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Security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1057275" y="4234904"/>
            <a:ext cx="27749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Role-Based Access Control (RBAC).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TLS 1.2+ Encryption.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Audit Trails for all actions.</a:t>
            </a:r>
            <a:endParaRPr/>
          </a:p>
        </p:txBody>
      </p:sp>
      <p:pic>
        <p:nvPicPr>
          <p:cNvPr id="207" name="Google Shape;207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4851" y="282520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8"/>
          <p:cNvSpPr txBox="1"/>
          <p:nvPr/>
        </p:nvSpPr>
        <p:spPr>
          <a:xfrm>
            <a:off x="4639102" y="3825329"/>
            <a:ext cx="291364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Performance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4708475" y="4234904"/>
            <a:ext cx="27749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Token issuance &lt; 2 seconds.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Supports 100+ concurrent sessions.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99.5% Uptime SLA.</a:t>
            </a:r>
            <a:endParaRPr/>
          </a:p>
        </p:txBody>
      </p:sp>
      <p:pic>
        <p:nvPicPr>
          <p:cNvPr id="210" name="Google Shape;210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366051" y="282520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8"/>
          <p:cNvSpPr txBox="1"/>
          <p:nvPr/>
        </p:nvSpPr>
        <p:spPr>
          <a:xfrm>
            <a:off x="8290303" y="3825329"/>
            <a:ext cx="291364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Compliance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8359675" y="4234904"/>
            <a:ext cx="27749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NDHM/ABDM standards.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NABH data retention policies.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Data residency within India.</a:t>
            </a:r>
            <a:endParaRPr/>
          </a:p>
        </p:txBody>
      </p:sp>
      <p:pic>
        <p:nvPicPr>
          <p:cNvPr id="213" name="Google Shape;213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216050" y="297760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67251" y="297760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461301" y="2977604"/>
            <a:ext cx="5715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19" descr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1823" y="1414462"/>
            <a:ext cx="6096000" cy="5019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9"/>
          <p:cNvSpPr txBox="1"/>
          <p:nvPr/>
        </p:nvSpPr>
        <p:spPr>
          <a:xfrm>
            <a:off x="762000" y="381000"/>
            <a:ext cx="5175646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SYSTEM ARCHITECTURE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762000" y="2638425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Level 0 Data Flow Diagram</a:t>
            </a:r>
            <a:endParaRPr dirty="0"/>
          </a:p>
        </p:txBody>
      </p:sp>
      <p:sp>
        <p:nvSpPr>
          <p:cNvPr id="226" name="Google Shape;226;p19"/>
          <p:cNvSpPr txBox="1"/>
          <p:nvPr/>
        </p:nvSpPr>
        <p:spPr>
          <a:xfrm>
            <a:off x="762000" y="3248025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DFD acts as the central orchestration hub.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1047750" y="3886200"/>
            <a:ext cx="4286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Inputs: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Patient Data, Payments, Appt Requests.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1047750" y="4305300"/>
            <a:ext cx="4286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Outputs: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Tokens, Receipts, Notifications.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1047750" y="4724400"/>
            <a:ext cx="4286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Connectors: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Bridges Receptionist, HIS, and Patients.</a:t>
            </a:r>
            <a:endParaRPr/>
          </a:p>
        </p:txBody>
      </p:sp>
      <p:pic>
        <p:nvPicPr>
          <p:cNvPr id="230" name="Google Shape;23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9243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3434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7625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9"/>
          <p:cNvPicPr preferRelativeResize="0"/>
          <p:nvPr/>
        </p:nvPicPr>
        <p:blipFill rotWithShape="1">
          <a:blip r:embed="rId7">
            <a:alphaModFix/>
          </a:blip>
          <a:srcRect t="2267"/>
          <a:stretch/>
        </p:blipFill>
        <p:spPr>
          <a:xfrm>
            <a:off x="5184375" y="2201275"/>
            <a:ext cx="7007626" cy="37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B874C7D2-821D-D02E-7B0F-8B492C192402}"/>
              </a:ext>
            </a:extLst>
          </p:cNvPr>
          <p:cNvSpPr/>
          <p:nvPr/>
        </p:nvSpPr>
        <p:spPr>
          <a:xfrm>
            <a:off x="5334000" y="2201275"/>
            <a:ext cx="1706880" cy="4371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1457325"/>
            <a:ext cx="5048250" cy="501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457325"/>
            <a:ext cx="5048250" cy="501967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0"/>
          <p:cNvSpPr txBox="1"/>
          <p:nvPr/>
        </p:nvSpPr>
        <p:spPr>
          <a:xfrm>
            <a:off x="762000" y="381000"/>
            <a:ext cx="5395674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DATA MODEL &amp; ENTITIES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1152525" y="1876425"/>
            <a:ext cx="448056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Core Entities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6772275" y="1876425"/>
            <a:ext cx="448056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Transactional Entities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1438275" y="2447925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Patient: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MRN, ABHA, Demographics.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1438275" y="2867025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Appointment: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Doctor Link, Time Slot, Status.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1438275" y="3286125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Token: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Queue Number, Issue Time.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7058025" y="2447925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Encounter: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Clinical Visit Record.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7058025" y="2867025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Provisional Bill: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Line Items, Totals.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7058025" y="3286125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Payment: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Transaction ID, Method, Status.</a:t>
            </a:r>
            <a:endParaRPr/>
          </a:p>
        </p:txBody>
      </p:sp>
      <p:pic>
        <p:nvPicPr>
          <p:cNvPr id="252" name="Google Shape;25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2525" y="24860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2525" y="29051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2525" y="33242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2275" y="24860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2275" y="29051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2275" y="332422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529929"/>
            <a:ext cx="3365450" cy="2874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13200" y="2529929"/>
            <a:ext cx="3365450" cy="2874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64400" y="2529929"/>
            <a:ext cx="3365450" cy="2874466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1"/>
          <p:cNvSpPr txBox="1"/>
          <p:nvPr/>
        </p:nvSpPr>
        <p:spPr>
          <a:xfrm>
            <a:off x="762000" y="381000"/>
            <a:ext cx="6230778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INTEGRATION &amp; TECH STACK</a:t>
            </a:r>
            <a:endParaRPr/>
          </a:p>
        </p:txBody>
      </p:sp>
      <p:pic>
        <p:nvPicPr>
          <p:cNvPr id="269" name="Google Shape;269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63650" y="282520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1"/>
          <p:cNvSpPr txBox="1"/>
          <p:nvPr/>
        </p:nvSpPr>
        <p:spPr>
          <a:xfrm>
            <a:off x="987902" y="3825329"/>
            <a:ext cx="291364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Environment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1057275" y="4234904"/>
            <a:ext cx="27749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Linux (Ubuntu LTS) on Cloud/On-Prem.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Node.js / Java Backend.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PostgreSQL Database.</a:t>
            </a:r>
            <a:endParaRPr/>
          </a:p>
        </p:txBody>
      </p:sp>
      <p:pic>
        <p:nvPicPr>
          <p:cNvPr id="272" name="Google Shape;272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4851" y="282520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1"/>
          <p:cNvSpPr txBox="1"/>
          <p:nvPr/>
        </p:nvSpPr>
        <p:spPr>
          <a:xfrm>
            <a:off x="4639102" y="3825329"/>
            <a:ext cx="291364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Standards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4708475" y="4234904"/>
            <a:ext cx="27749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HL7 v2.x:</a:t>
            </a: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Legacy HIS.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FHIR R4:</a:t>
            </a: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NDHM Data Exchange.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JSON/REST:</a:t>
            </a: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Internal APIs.</a:t>
            </a:r>
            <a:endParaRPr/>
          </a:p>
        </p:txBody>
      </p:sp>
      <p:pic>
        <p:nvPicPr>
          <p:cNvPr id="275" name="Google Shape;275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366051" y="282520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1"/>
          <p:cNvSpPr txBox="1"/>
          <p:nvPr/>
        </p:nvSpPr>
        <p:spPr>
          <a:xfrm>
            <a:off x="8290303" y="3825329"/>
            <a:ext cx="291364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Security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8359675" y="4234904"/>
            <a:ext cx="27749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OAuth2 Authentication.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Swagger/OpenAPI Docs.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Encrypted Data Storage.</a:t>
            </a:r>
            <a:endParaRPr/>
          </a:p>
        </p:txBody>
      </p:sp>
      <p:pic>
        <p:nvPicPr>
          <p:cNvPr id="278" name="Google Shape;278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187475" y="2977604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67251" y="297760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518451" y="2977604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264" y="0"/>
            <a:ext cx="1219200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7170" y="1457324"/>
            <a:ext cx="6096000" cy="501967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2"/>
          <p:cNvSpPr txBox="1"/>
          <p:nvPr/>
        </p:nvSpPr>
        <p:spPr>
          <a:xfrm>
            <a:off x="762000" y="381000"/>
            <a:ext cx="490061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PRIMARY WORKFLOW</a:t>
            </a:r>
            <a:endParaRPr/>
          </a:p>
        </p:txBody>
      </p:sp>
      <p:sp>
        <p:nvSpPr>
          <p:cNvPr id="290" name="Google Shape;290;p22"/>
          <p:cNvSpPr txBox="1"/>
          <p:nvPr/>
        </p:nvSpPr>
        <p:spPr>
          <a:xfrm>
            <a:off x="762000" y="2538412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Walk-in Registration Flow</a:t>
            </a:r>
            <a:endParaRPr dirty="0"/>
          </a:p>
        </p:txBody>
      </p:sp>
      <p:pic>
        <p:nvPicPr>
          <p:cNvPr id="291" name="Google Shape;291;p2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11900" y="1603450"/>
            <a:ext cx="5708600" cy="472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2"/>
          <p:cNvSpPr txBox="1"/>
          <p:nvPr/>
        </p:nvSpPr>
        <p:spPr>
          <a:xfrm>
            <a:off x="800100" y="3242147"/>
            <a:ext cx="24765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 dirty="0"/>
          </a:p>
        </p:txBody>
      </p:sp>
      <p:sp>
        <p:nvSpPr>
          <p:cNvPr id="293" name="Google Shape;293;p22"/>
          <p:cNvSpPr txBox="1"/>
          <p:nvPr/>
        </p:nvSpPr>
        <p:spPr>
          <a:xfrm>
            <a:off x="952500" y="3128962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Scan: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Receptionist scans ID or ABHA QR code.</a:t>
            </a:r>
            <a:endParaRPr/>
          </a:p>
        </p:txBody>
      </p:sp>
      <p:sp>
        <p:nvSpPr>
          <p:cNvPr id="294" name="Google Shape;294;p22"/>
          <p:cNvSpPr txBox="1"/>
          <p:nvPr/>
        </p:nvSpPr>
        <p:spPr>
          <a:xfrm>
            <a:off x="800100" y="3661247"/>
            <a:ext cx="24765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 dirty="0"/>
          </a:p>
        </p:txBody>
      </p:sp>
      <p:sp>
        <p:nvSpPr>
          <p:cNvPr id="295" name="Google Shape;295;p22"/>
          <p:cNvSpPr txBox="1"/>
          <p:nvPr/>
        </p:nvSpPr>
        <p:spPr>
          <a:xfrm>
            <a:off x="952500" y="3548062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Create: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System auto-generates MRN.</a:t>
            </a:r>
            <a:endParaRPr/>
          </a:p>
        </p:txBody>
      </p:sp>
      <p:sp>
        <p:nvSpPr>
          <p:cNvPr id="296" name="Google Shape;296;p22"/>
          <p:cNvSpPr txBox="1"/>
          <p:nvPr/>
        </p:nvSpPr>
        <p:spPr>
          <a:xfrm>
            <a:off x="800100" y="4080347"/>
            <a:ext cx="24765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 dirty="0"/>
          </a:p>
        </p:txBody>
      </p:sp>
      <p:sp>
        <p:nvSpPr>
          <p:cNvPr id="297" name="Google Shape;297;p22"/>
          <p:cNvSpPr txBox="1"/>
          <p:nvPr/>
        </p:nvSpPr>
        <p:spPr>
          <a:xfrm>
            <a:off x="952500" y="3967162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Issue: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Digital token is assigned to patient.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800100" y="4499447"/>
            <a:ext cx="16383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4.</a:t>
            </a:r>
            <a:endParaRPr dirty="0"/>
          </a:p>
        </p:txBody>
      </p:sp>
      <p:sp>
        <p:nvSpPr>
          <p:cNvPr id="299" name="Google Shape;299;p22"/>
          <p:cNvSpPr txBox="1"/>
          <p:nvPr/>
        </p:nvSpPr>
        <p:spPr>
          <a:xfrm>
            <a:off x="952500" y="4386262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Sync: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Queue screens update instantly.</a:t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811530" y="4914490"/>
            <a:ext cx="16383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5.</a:t>
            </a:r>
            <a:endParaRPr dirty="0"/>
          </a:p>
        </p:txBody>
      </p:sp>
      <p:sp>
        <p:nvSpPr>
          <p:cNvPr id="301" name="Google Shape;301;p22"/>
          <p:cNvSpPr txBox="1"/>
          <p:nvPr/>
        </p:nvSpPr>
        <p:spPr>
          <a:xfrm>
            <a:off x="952500" y="4805362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Notify: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Patient receives SMS confirmation.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10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3"/>
          <p:cNvSpPr txBox="1"/>
          <p:nvPr/>
        </p:nvSpPr>
        <p:spPr>
          <a:xfrm>
            <a:off x="762000" y="381000"/>
            <a:ext cx="507063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VALIDATION &amp; TESTING</a:t>
            </a:r>
            <a:endParaRPr/>
          </a:p>
        </p:txBody>
      </p:sp>
      <p:graphicFrame>
        <p:nvGraphicFramePr>
          <p:cNvPr id="310" name="Google Shape;310;p23"/>
          <p:cNvGraphicFramePr/>
          <p:nvPr/>
        </p:nvGraphicFramePr>
        <p:xfrm>
          <a:off x="762000" y="2538412"/>
          <a:ext cx="10658475" cy="2857500"/>
        </p:xfrm>
        <a:graphic>
          <a:graphicData uri="http://schemas.openxmlformats.org/drawingml/2006/table">
            <a:tbl>
              <a:tblPr firstRow="1" bandRow="1">
                <a:noFill/>
                <a:tableStyleId>{E5AC2925-0298-4620-86BD-4CE86A8F8210}</a:tableStyleId>
              </a:tblPr>
              <a:tblGrid>
                <a:gridCol w="15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7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1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Acceptance Criteria / Test Case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Metric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AC-01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New Patient Registration Sync to HIS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&lt; 5 Seconds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AC-02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Token Display Update Latency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&lt; 2 Seconds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TC-001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ABHA Integration (Valid/Invalid Flag)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Pass / Fail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TC-004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Insurance API Failure Fallback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Graceful Msg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1" name="Google Shape;311;p23"/>
          <p:cNvSpPr/>
          <p:nvPr/>
        </p:nvSpPr>
        <p:spPr>
          <a:xfrm>
            <a:off x="766762" y="3081337"/>
            <a:ext cx="1598711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3"/>
          <p:cNvSpPr/>
          <p:nvPr/>
        </p:nvSpPr>
        <p:spPr>
          <a:xfrm>
            <a:off x="2365474" y="3081337"/>
            <a:ext cx="6927949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3"/>
          <p:cNvSpPr/>
          <p:nvPr/>
        </p:nvSpPr>
        <p:spPr>
          <a:xfrm>
            <a:off x="9293423" y="3081337"/>
            <a:ext cx="2131814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3"/>
          <p:cNvSpPr/>
          <p:nvPr/>
        </p:nvSpPr>
        <p:spPr>
          <a:xfrm>
            <a:off x="766762" y="3667125"/>
            <a:ext cx="15987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3"/>
          <p:cNvSpPr/>
          <p:nvPr/>
        </p:nvSpPr>
        <p:spPr>
          <a:xfrm>
            <a:off x="2365474" y="3667125"/>
            <a:ext cx="69279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3"/>
          <p:cNvSpPr/>
          <p:nvPr/>
        </p:nvSpPr>
        <p:spPr>
          <a:xfrm>
            <a:off x="9293423" y="3667125"/>
            <a:ext cx="21318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3"/>
          <p:cNvSpPr/>
          <p:nvPr/>
        </p:nvSpPr>
        <p:spPr>
          <a:xfrm>
            <a:off x="766762" y="4238625"/>
            <a:ext cx="15987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3"/>
          <p:cNvSpPr/>
          <p:nvPr/>
        </p:nvSpPr>
        <p:spPr>
          <a:xfrm>
            <a:off x="2365474" y="4238625"/>
            <a:ext cx="69279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3"/>
          <p:cNvSpPr/>
          <p:nvPr/>
        </p:nvSpPr>
        <p:spPr>
          <a:xfrm>
            <a:off x="9293423" y="4238625"/>
            <a:ext cx="21318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3"/>
          <p:cNvSpPr/>
          <p:nvPr/>
        </p:nvSpPr>
        <p:spPr>
          <a:xfrm>
            <a:off x="766762" y="4810125"/>
            <a:ext cx="15987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3"/>
          <p:cNvSpPr/>
          <p:nvPr/>
        </p:nvSpPr>
        <p:spPr>
          <a:xfrm>
            <a:off x="2365474" y="4810125"/>
            <a:ext cx="69279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3"/>
          <p:cNvSpPr/>
          <p:nvPr/>
        </p:nvSpPr>
        <p:spPr>
          <a:xfrm>
            <a:off x="9293423" y="4810125"/>
            <a:ext cx="21318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4"/>
          <p:cNvSpPr txBox="1"/>
          <p:nvPr/>
        </p:nvSpPr>
        <p:spPr>
          <a:xfrm>
            <a:off x="1714500" y="1124098"/>
            <a:ext cx="10477500" cy="91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Project Outcome &amp; Review</a:t>
            </a:r>
            <a:endParaRPr dirty="0"/>
          </a:p>
        </p:txBody>
      </p:sp>
      <p:sp>
        <p:nvSpPr>
          <p:cNvPr id="329" name="Google Shape;329;p24"/>
          <p:cNvSpPr/>
          <p:nvPr/>
        </p:nvSpPr>
        <p:spPr>
          <a:xfrm>
            <a:off x="1333500" y="1124098"/>
            <a:ext cx="76200" cy="75426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4"/>
          <p:cNvSpPr txBox="1"/>
          <p:nvPr/>
        </p:nvSpPr>
        <p:spPr>
          <a:xfrm>
            <a:off x="1333500" y="2335559"/>
            <a:ext cx="108585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 robust, compliant, and efficient Digital Front Desk solution.</a:t>
            </a:r>
            <a:endParaRPr/>
          </a:p>
        </p:txBody>
      </p:sp>
      <p:sp>
        <p:nvSpPr>
          <p:cNvPr id="332" name="Google Shape;332;p24"/>
          <p:cNvSpPr txBox="1"/>
          <p:nvPr/>
        </p:nvSpPr>
        <p:spPr>
          <a:xfrm>
            <a:off x="1764030" y="3714750"/>
            <a:ext cx="216027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Compliances</a:t>
            </a:r>
            <a:endParaRPr lang="en-US" dirty="0"/>
          </a:p>
        </p:txBody>
      </p:sp>
      <p:sp>
        <p:nvSpPr>
          <p:cNvPr id="334" name="Google Shape;334;p24"/>
          <p:cNvSpPr txBox="1"/>
          <p:nvPr/>
        </p:nvSpPr>
        <p:spPr>
          <a:xfrm>
            <a:off x="4917122" y="3714750"/>
            <a:ext cx="273034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Operational Efficiency</a:t>
            </a:r>
            <a:endParaRPr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49CCADF-6F48-400F-1CD9-E2C6B76A8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0655" y="3714750"/>
            <a:ext cx="333375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81E6C3-5FB7-3BA2-A415-4C8827A46B3F}"/>
              </a:ext>
            </a:extLst>
          </p:cNvPr>
          <p:cNvSpPr txBox="1"/>
          <p:nvPr/>
        </p:nvSpPr>
        <p:spPr>
          <a:xfrm>
            <a:off x="8659575" y="3675786"/>
            <a:ext cx="32912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Design</a:t>
            </a:r>
            <a:endParaRPr lang="en-US" sz="1800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2AF6931C-DB63-493F-410A-4CDB92F3D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3350" y="3707703"/>
            <a:ext cx="276225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C8D69227-0822-6171-936E-0139EFABF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2074" y="3732252"/>
            <a:ext cx="276225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0498545-C4C9-8E7D-A7A1-E3245019D9E0}"/>
              </a:ext>
            </a:extLst>
          </p:cNvPr>
          <p:cNvSpPr txBox="1"/>
          <p:nvPr/>
        </p:nvSpPr>
        <p:spPr>
          <a:xfrm>
            <a:off x="8659575" y="4006153"/>
            <a:ext cx="30242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400" b="0" i="0" u="none" strike="noStrike" dirty="0">
                <a:solidFill>
                  <a:srgbClr val="64748B"/>
                </a:solidFill>
                <a:effectLst/>
                <a:latin typeface="Lato" panose="020F0502020204030203" pitchFamily="34" charset="0"/>
              </a:rPr>
              <a:t>Modular, Scalable, and API-Driven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B14AB6-881F-FC5D-848F-A624B65A993F}"/>
              </a:ext>
            </a:extLst>
          </p:cNvPr>
          <p:cNvSpPr txBox="1"/>
          <p:nvPr/>
        </p:nvSpPr>
        <p:spPr>
          <a:xfrm>
            <a:off x="4825209" y="3996629"/>
            <a:ext cx="32912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dirty="0">
                <a:solidFill>
                  <a:srgbClr val="64748B"/>
                </a:solidFill>
                <a:latin typeface="Lato" panose="020F0502020204030203" pitchFamily="34" charset="0"/>
              </a:rPr>
              <a:t>Automated Workflow &amp; Low Latency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D35FD9-CB72-E6FF-B558-85167516AB09}"/>
              </a:ext>
            </a:extLst>
          </p:cNvPr>
          <p:cNvSpPr txBox="1"/>
          <p:nvPr/>
        </p:nvSpPr>
        <p:spPr>
          <a:xfrm>
            <a:off x="1698544" y="4006154"/>
            <a:ext cx="30242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400" b="0" i="0" u="none" strike="noStrike" dirty="0">
                <a:solidFill>
                  <a:srgbClr val="64748B"/>
                </a:solidFill>
                <a:effectLst/>
                <a:latin typeface="Lato" panose="020F0502020204030203" pitchFamily="34" charset="0"/>
              </a:rPr>
              <a:t>Future- Ready Standards</a:t>
            </a: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5"/>
          <p:cNvSpPr/>
          <p:nvPr/>
        </p:nvSpPr>
        <p:spPr>
          <a:xfrm>
            <a:off x="1333500" y="3081337"/>
            <a:ext cx="9525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5"/>
          <p:cNvSpPr/>
          <p:nvPr/>
        </p:nvSpPr>
        <p:spPr>
          <a:xfrm>
            <a:off x="1333500" y="4064198"/>
            <a:ext cx="9525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5"/>
          <p:cNvSpPr txBox="1"/>
          <p:nvPr/>
        </p:nvSpPr>
        <p:spPr>
          <a:xfrm>
            <a:off x="2428875" y="4216598"/>
            <a:ext cx="8429625" cy="240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975" b="0" i="0" u="none" strike="noStrike" cap="none" dirty="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E846C0-ED77-409F-A99A-A31E72D3C4AF}"/>
              </a:ext>
            </a:extLst>
          </p:cNvPr>
          <p:cNvSpPr txBox="1"/>
          <p:nvPr/>
        </p:nvSpPr>
        <p:spPr>
          <a:xfrm>
            <a:off x="3775075" y="1815262"/>
            <a:ext cx="53752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5400" b="1" i="0" u="none" strike="noStrike" dirty="0">
                <a:solidFill>
                  <a:srgbClr val="0369A1"/>
                </a:solidFill>
                <a:effectLst/>
                <a:latin typeface="Montserrat" panose="00000500000000000000" pitchFamily="2" charset="0"/>
              </a:rPr>
              <a:t>THANK YOU</a:t>
            </a:r>
            <a:endParaRPr lang="en-IN" sz="5400" b="0" dirty="0">
              <a:effectLst/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0FDDA1-4000-2743-A7D7-71A7EAFA549B}"/>
              </a:ext>
            </a:extLst>
          </p:cNvPr>
          <p:cNvSpPr txBox="1"/>
          <p:nvPr/>
        </p:nvSpPr>
        <p:spPr>
          <a:xfrm>
            <a:off x="5257799" y="3169313"/>
            <a:ext cx="2409825" cy="519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369A1"/>
                </a:solidFill>
                <a:latin typeface="Lato"/>
                <a:ea typeface="Lato"/>
                <a:cs typeface="Lato"/>
                <a:sym typeface="Lato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655</Words>
  <Application>Microsoft Office PowerPoint</Application>
  <PresentationFormat>Widescreen</PresentationFormat>
  <Paragraphs>110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Lato</vt:lpstr>
      <vt:lpstr>Montserrat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Raktimranjan Handique</dc:creator>
  <cp:lastModifiedBy>Raktimranjan Handique</cp:lastModifiedBy>
  <cp:revision>2</cp:revision>
  <dcterms:modified xsi:type="dcterms:W3CDTF">2025-11-24T09:22:39Z</dcterms:modified>
</cp:coreProperties>
</file>