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Montserrat" panose="00000500000000000000" pitchFamily="2" charset="0"/>
      <p:regular r:id="rId23"/>
      <p:bold r:id="rId24"/>
      <p:italic r:id="rId25"/>
      <p:boldItalic r:id="rId26"/>
    </p:embeddedFont>
    <p:embeddedFont>
      <p:font typeface="Poppins" panose="000005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8ED40A-B548-496F-B19E-093D507990CA}">
  <a:tblStyle styleId="{D48ED40A-B548-496F-B19E-093D507990C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708" y="3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4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6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721269" y="1339927"/>
            <a:ext cx="9398412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1A3A73"/>
                </a:solidFill>
                <a:latin typeface="Montserrat" panose="00000500000000000000" pitchFamily="2" charset="0"/>
                <a:ea typeface="Poppins"/>
                <a:cs typeface="Poppins"/>
                <a:sym typeface="Poppins"/>
              </a:rPr>
              <a:t>DIGITAL FRONT DESK</a:t>
            </a:r>
          </a:p>
          <a:p>
            <a:pPr marL="0" marR="0" lv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1A3A73"/>
                </a:solidFill>
                <a:latin typeface="Montserrat" panose="00000500000000000000" pitchFamily="2" charset="0"/>
                <a:ea typeface="Poppins"/>
                <a:cs typeface="Poppins"/>
                <a:sym typeface="Poppins"/>
              </a:rPr>
              <a:t>SYSTEM</a:t>
            </a:r>
            <a:endParaRPr dirty="0">
              <a:latin typeface="Montserrat" panose="00000500000000000000" pitchFamily="2" charset="0"/>
            </a:endParaRPr>
          </a:p>
        </p:txBody>
      </p:sp>
      <p:sp>
        <p:nvSpPr>
          <p:cNvPr id="3" name="Google Shape;88;p13">
            <a:extLst>
              <a:ext uri="{FF2B5EF4-FFF2-40B4-BE49-F238E27FC236}">
                <a16:creationId xmlns:a16="http://schemas.microsoft.com/office/drawing/2014/main" id="{30FFC841-05BD-0DCB-E813-789D3C7289E6}"/>
              </a:ext>
            </a:extLst>
          </p:cNvPr>
          <p:cNvSpPr/>
          <p:nvPr/>
        </p:nvSpPr>
        <p:spPr>
          <a:xfrm>
            <a:off x="1120782" y="1470880"/>
            <a:ext cx="76200" cy="1400086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89;p13">
            <a:extLst>
              <a:ext uri="{FF2B5EF4-FFF2-40B4-BE49-F238E27FC236}">
                <a16:creationId xmlns:a16="http://schemas.microsoft.com/office/drawing/2014/main" id="{2CB3753E-1E5D-3CE0-FD95-E1ECD25AA1A4}"/>
              </a:ext>
            </a:extLst>
          </p:cNvPr>
          <p:cNvSpPr txBox="1"/>
          <p:nvPr/>
        </p:nvSpPr>
        <p:spPr>
          <a:xfrm>
            <a:off x="1721269" y="3208743"/>
            <a:ext cx="112395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Modernizing Patient Management for Private Hospitals in India</a:t>
            </a:r>
            <a:endParaRPr dirty="0"/>
          </a:p>
        </p:txBody>
      </p:sp>
      <p:pic>
        <p:nvPicPr>
          <p:cNvPr id="5" name="Google Shape;86;p13" descr="image.png">
            <a:extLst>
              <a:ext uri="{FF2B5EF4-FFF2-40B4-BE49-F238E27FC236}">
                <a16:creationId xmlns:a16="http://schemas.microsoft.com/office/drawing/2014/main" id="{477845DD-7381-1E75-1DFD-9D6EDAE8CEF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1269" y="4238498"/>
            <a:ext cx="11239500" cy="105340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0;p13">
            <a:extLst>
              <a:ext uri="{FF2B5EF4-FFF2-40B4-BE49-F238E27FC236}">
                <a16:creationId xmlns:a16="http://schemas.microsoft.com/office/drawing/2014/main" id="{385BC55F-E48A-1A62-C1B3-91C86AA056AE}"/>
              </a:ext>
            </a:extLst>
          </p:cNvPr>
          <p:cNvSpPr txBox="1"/>
          <p:nvPr/>
        </p:nvSpPr>
        <p:spPr>
          <a:xfrm>
            <a:off x="1721269" y="4863603"/>
            <a:ext cx="2286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Software Engineering (CO311)</a:t>
            </a:r>
            <a:endParaRPr dirty="0"/>
          </a:p>
        </p:txBody>
      </p:sp>
      <p:sp>
        <p:nvSpPr>
          <p:cNvPr id="7" name="Google Shape;91;p13">
            <a:extLst>
              <a:ext uri="{FF2B5EF4-FFF2-40B4-BE49-F238E27FC236}">
                <a16:creationId xmlns:a16="http://schemas.microsoft.com/office/drawing/2014/main" id="{7B38F6DB-1486-E3F5-8BE2-A4FBA42FCBA9}"/>
              </a:ext>
            </a:extLst>
          </p:cNvPr>
          <p:cNvSpPr txBox="1"/>
          <p:nvPr/>
        </p:nvSpPr>
        <p:spPr>
          <a:xfrm>
            <a:off x="4495800" y="4863603"/>
            <a:ext cx="17049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CSB23010 | CSB23012</a:t>
            </a:r>
            <a:endParaRPr dirty="0"/>
          </a:p>
        </p:txBody>
      </p:sp>
      <p:sp>
        <p:nvSpPr>
          <p:cNvPr id="9" name="Google Shape;92;p13">
            <a:extLst>
              <a:ext uri="{FF2B5EF4-FFF2-40B4-BE49-F238E27FC236}">
                <a16:creationId xmlns:a16="http://schemas.microsoft.com/office/drawing/2014/main" id="{6237CA5F-831E-9AF6-5075-9F42CD036F08}"/>
              </a:ext>
            </a:extLst>
          </p:cNvPr>
          <p:cNvSpPr txBox="1"/>
          <p:nvPr/>
        </p:nvSpPr>
        <p:spPr>
          <a:xfrm>
            <a:off x="4495875" y="5534443"/>
            <a:ext cx="17049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CSB23016 | CSB23017</a:t>
            </a:r>
            <a:endParaRPr dirty="0"/>
          </a:p>
        </p:txBody>
      </p:sp>
      <p:sp>
        <p:nvSpPr>
          <p:cNvPr id="11" name="Google Shape;93;p13">
            <a:extLst>
              <a:ext uri="{FF2B5EF4-FFF2-40B4-BE49-F238E27FC236}">
                <a16:creationId xmlns:a16="http://schemas.microsoft.com/office/drawing/2014/main" id="{8E847E9D-C340-97B7-7E96-1490FFA0BBEA}"/>
              </a:ext>
            </a:extLst>
          </p:cNvPr>
          <p:cNvSpPr txBox="1"/>
          <p:nvPr/>
        </p:nvSpPr>
        <p:spPr>
          <a:xfrm>
            <a:off x="6769938" y="4863603"/>
            <a:ext cx="1414795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Autumn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25</a:t>
            </a:r>
            <a:r>
              <a:rPr lang="en-US" sz="1350" b="1" baseline="30000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th</a:t>
            </a:r>
            <a:r>
              <a:rPr lang="en-US" sz="1350" b="1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 November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2025</a:t>
            </a:r>
            <a:endParaRPr dirty="0"/>
          </a:p>
        </p:txBody>
      </p:sp>
      <p:pic>
        <p:nvPicPr>
          <p:cNvPr id="12" name="Google Shape;85;p13" descr="image.png">
            <a:extLst>
              <a:ext uri="{FF2B5EF4-FFF2-40B4-BE49-F238E27FC236}">
                <a16:creationId xmlns:a16="http://schemas.microsoft.com/office/drawing/2014/main" id="{3E949F01-5355-1B11-C347-F1E7FD60A85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5316" y="38275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69545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6954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1333500" y="1847850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A digital solution that replaces slow, manual front-desk workflows.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333500" y="2708671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Handles registration, appointments, token system, billing, and insurance.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333500" y="3569493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Designed for private hospitals in India following NDHM/ABDM standards.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333500" y="4430315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Integrates with HIS, LIS, Pharmacy, and Payment Gateway.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188595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2746771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7250" y="3607593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4468415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1A3A73"/>
                </a:solidFill>
                <a:latin typeface="Montserrat" panose="00000500000000000000" pitchFamily="2" charset="0"/>
                <a:ea typeface="Poppins"/>
                <a:cs typeface="Poppins"/>
                <a:sym typeface="Poppins"/>
              </a:rPr>
              <a:t>Introduction</a:t>
            </a:r>
            <a:endParaRPr dirty="0">
              <a:latin typeface="Montserrat" panose="00000500000000000000" pitchFamily="2" charset="0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5E8F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1047750" y="2753022"/>
            <a:ext cx="10572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Fragmented Workflows:</a:t>
            </a:r>
            <a:r>
              <a:rPr lang="en-US" sz="1650" b="0" i="0" u="none" strike="noStrike" cap="none" dirty="0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Disconnect between reception, doctors, and billing.</a:t>
            </a:r>
            <a:endParaRPr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1047750" y="3278683"/>
            <a:ext cx="10572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High Error Rate: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Manual data entry leads to clerical errors and duplicate records.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047750" y="3804344"/>
            <a:ext cx="10572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Long Wait Times: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Inefficient queuing reduces patient satisfaction.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047750" y="4330005"/>
            <a:ext cx="10572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Compliance Issues: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Difficult to maintain NDHM/ABDM compliance with paper records.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047750" y="4855666"/>
            <a:ext cx="10572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Lack of Automation: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No automated insurance checks or digital consent processes.</a:t>
            </a:r>
            <a:endParaRPr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4030" y="2818358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4030" y="3344019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4030" y="3872804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4030" y="4401589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4030" y="4930374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1A3A73"/>
                </a:solidFill>
                <a:latin typeface="Montserrat" panose="00000500000000000000" pitchFamily="2" charset="0"/>
                <a:ea typeface="Poppins"/>
                <a:cs typeface="Poppins"/>
                <a:sym typeface="Poppins"/>
              </a:rPr>
              <a:t>Problem Statement</a:t>
            </a:r>
            <a:endParaRPr dirty="0">
              <a:latin typeface="Montserrat" panose="00000500000000000000" pitchFamily="2" charset="0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5E8F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69545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695450"/>
            <a:ext cx="5238750" cy="3810000"/>
          </a:xfrm>
          <a:prstGeom prst="rect">
            <a:avLst/>
          </a:prstGeom>
          <a:noFill/>
          <a:ln>
            <a:noFill/>
          </a:ln>
          <a:effectLst>
            <a:outerShdw blurRad="685800" dist="50800" dir="5400000" sx="101000" sy="101000" algn="ctr" rotWithShape="0">
              <a:srgbClr val="000000">
                <a:alpha val="23000"/>
              </a:srgbClr>
            </a:outerShdw>
          </a:effectLst>
        </p:spPr>
      </p:pic>
      <p:sp>
        <p:nvSpPr>
          <p:cNvPr id="130" name="Google Shape;130;p16"/>
          <p:cNvSpPr txBox="1"/>
          <p:nvPr/>
        </p:nvSpPr>
        <p:spPr>
          <a:xfrm>
            <a:off x="1333500" y="1771650"/>
            <a:ext cx="4476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Centralized, web-based front-desk module.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1333500" y="2297311"/>
            <a:ext cx="4476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Real-time queue and token management.</a:t>
            </a:r>
            <a:endParaRPr dirty="0"/>
          </a:p>
        </p:txBody>
      </p:sp>
      <p:sp>
        <p:nvSpPr>
          <p:cNvPr id="132" name="Google Shape;132;p16"/>
          <p:cNvSpPr txBox="1"/>
          <p:nvPr/>
        </p:nvSpPr>
        <p:spPr>
          <a:xfrm>
            <a:off x="1333500" y="2840603"/>
            <a:ext cx="4476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Automated appointment creation &amp; check-ins.</a:t>
            </a:r>
            <a:endParaRPr dirty="0"/>
          </a:p>
        </p:txBody>
      </p:sp>
      <p:sp>
        <p:nvSpPr>
          <p:cNvPr id="133" name="Google Shape;133;p16"/>
          <p:cNvSpPr txBox="1"/>
          <p:nvPr/>
        </p:nvSpPr>
        <p:spPr>
          <a:xfrm>
            <a:off x="1333500" y="3383895"/>
            <a:ext cx="4476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Integrated ABHA/Insurance verification.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333500" y="3904496"/>
            <a:ext cx="4476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SMS/WhatsApp notifications for tokens &amp; updates.</a:t>
            </a:r>
            <a:endParaRPr dirty="0"/>
          </a:p>
        </p:txBody>
      </p:sp>
      <p:sp>
        <p:nvSpPr>
          <p:cNvPr id="135" name="Google Shape;135;p16"/>
          <p:cNvSpPr txBox="1"/>
          <p:nvPr/>
        </p:nvSpPr>
        <p:spPr>
          <a:xfrm>
            <a:off x="1333500" y="4760258"/>
            <a:ext cx="4476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Syncs with HIS, LIS, Pharmacy, Billing modules.</a:t>
            </a:r>
            <a:endParaRPr/>
          </a:p>
        </p:txBody>
      </p:sp>
      <p:pic>
        <p:nvPicPr>
          <p:cNvPr id="136" name="Google Shape;13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18859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241161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7250" y="2937271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7250" y="3462932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7250" y="3988593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57250" y="4849415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1A3A73"/>
                </a:solidFill>
                <a:latin typeface="Montserrat" panose="00000500000000000000" pitchFamily="2" charset="0"/>
                <a:ea typeface="Poppins"/>
                <a:cs typeface="Poppins"/>
                <a:sym typeface="Poppins"/>
              </a:rPr>
              <a:t>Our Solution: Digital Front Desk</a:t>
            </a:r>
            <a:endParaRPr dirty="0">
              <a:latin typeface="Montserrat" panose="00000500000000000000" pitchFamily="2" charset="0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5E8F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95450"/>
            <a:ext cx="5238750" cy="4591050"/>
          </a:xfrm>
          <a:prstGeom prst="rect">
            <a:avLst/>
          </a:prstGeom>
          <a:noFill/>
          <a:ln>
            <a:noFill/>
          </a:ln>
          <a:effectLst>
            <a:outerShdw blurRad="279400" dist="50800" dir="5400000" sx="101000" sy="101000" algn="ctr" rotWithShape="0">
              <a:srgbClr val="000000">
                <a:alpha val="64000"/>
              </a:srgbClr>
            </a:outerShdw>
          </a:effectLst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695450"/>
            <a:ext cx="5238750" cy="4591050"/>
          </a:xfrm>
          <a:prstGeom prst="rect">
            <a:avLst/>
          </a:prstGeom>
          <a:noFill/>
          <a:ln>
            <a:noFill/>
          </a:ln>
          <a:effectLst>
            <a:outerShdw blurRad="279400" dist="50800" dir="5400000" sx="101000" sy="101000" algn="ctr" rotWithShape="0">
              <a:srgbClr val="000000">
                <a:alpha val="64000"/>
              </a:srgbClr>
            </a:outerShdw>
          </a:effectLst>
        </p:spPr>
      </p:pic>
      <p:sp>
        <p:nvSpPr>
          <p:cNvPr id="151" name="Google Shape;151;p17"/>
          <p:cNvSpPr txBox="1"/>
          <p:nvPr/>
        </p:nvSpPr>
        <p:spPr>
          <a:xfrm>
            <a:off x="857250" y="1981200"/>
            <a:ext cx="490061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EA88A"/>
                </a:solidFill>
                <a:latin typeface="Poppins"/>
                <a:ea typeface="Poppins"/>
                <a:cs typeface="Poppins"/>
                <a:sym typeface="Poppins"/>
              </a:rPr>
              <a:t>Purpose &amp; Scope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57250" y="2447925"/>
            <a:ext cx="4667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Purpose: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Define functional &amp; non-functional requirements for the system.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57250" y="3261121"/>
            <a:ext cx="46672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Scope: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Covers Registration, OPD/IPD Appointments, Queue Management, Billing, Insurance, and Patient Notifications.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667500" y="1981200"/>
            <a:ext cx="490061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EA88A"/>
                </a:solidFill>
                <a:latin typeface="Poppins"/>
                <a:ea typeface="Poppins"/>
                <a:cs typeface="Poppins"/>
                <a:sym typeface="Poppins"/>
              </a:rPr>
              <a:t>Actors &amp; Environment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667500" y="2447925"/>
            <a:ext cx="4667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Actors: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Receptionist, Supervisor, HIS Admin, Finance Team.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667500" y="3261121"/>
            <a:ext cx="4667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Environment: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Web-based UI with backend API services; Integrates with existing HIS/LIS.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667500" y="4074318"/>
            <a:ext cx="4667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Constraints: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Must strictly follow NDHM/ABDM &amp; NABH guidelines.</a:t>
            </a:r>
            <a:endParaRPr/>
          </a:p>
        </p:txBody>
      </p:sp>
      <p:pic>
        <p:nvPicPr>
          <p:cNvPr id="158" name="Google Shape;15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2038350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0" y="2038350"/>
            <a:ext cx="3143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1A3A73"/>
                </a:solidFill>
                <a:latin typeface="Montserrat" panose="00000500000000000000" pitchFamily="2" charset="0"/>
                <a:ea typeface="Poppins"/>
                <a:cs typeface="Poppins"/>
                <a:sym typeface="Poppins"/>
              </a:rPr>
              <a:t>SRS Overview</a:t>
            </a:r>
            <a:endParaRPr dirty="0">
              <a:latin typeface="Montserrat" panose="00000500000000000000" pitchFamily="2" charset="0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5E8F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" y="0"/>
            <a:ext cx="12192000" cy="685800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sx="104000" sy="104000" algn="ctr" rotWithShape="0">
              <a:srgbClr val="000000">
                <a:alpha val="90000"/>
              </a:srgbClr>
            </a:outerShdw>
          </a:effectLst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3875" y="4943475"/>
            <a:ext cx="35242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81225" y="1938337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1413509" y="2424112"/>
            <a:ext cx="184023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Appointment &amp; OPD Management</a:t>
            </a:r>
            <a:endParaRPr dirty="0"/>
          </a:p>
        </p:txBody>
      </p:sp>
      <p:pic>
        <p:nvPicPr>
          <p:cNvPr id="170" name="Google Shape;17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81687" y="1938337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5055870" y="2424112"/>
            <a:ext cx="208026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Patient Registration</a:t>
            </a:r>
            <a:endParaRPr/>
          </a:p>
        </p:txBody>
      </p:sp>
      <p:pic>
        <p:nvPicPr>
          <p:cNvPr id="172" name="Google Shape;17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44062" y="1938337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9093279" y="2424112"/>
            <a:ext cx="153019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Queue &amp; Token</a:t>
            </a:r>
            <a:endParaRPr/>
          </a:p>
        </p:txBody>
      </p:sp>
      <p:pic>
        <p:nvPicPr>
          <p:cNvPr id="174" name="Google Shape;17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05037" y="3605212"/>
            <a:ext cx="2571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1518523" y="4090987"/>
            <a:ext cx="163020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Billing Initiation</a:t>
            </a:r>
            <a:endParaRPr/>
          </a:p>
        </p:txBody>
      </p:sp>
      <p:pic>
        <p:nvPicPr>
          <p:cNvPr id="176" name="Google Shape;176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24550" y="3605212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5240893" y="4090987"/>
            <a:ext cx="171021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Insurance Verify</a:t>
            </a:r>
            <a:endParaRPr/>
          </a:p>
        </p:txBody>
      </p:sp>
      <p:pic>
        <p:nvPicPr>
          <p:cNvPr id="178" name="Google Shape;178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86925" y="3605212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8953261" y="4090987"/>
            <a:ext cx="181022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Basic EMR Access</a:t>
            </a:r>
            <a:endParaRPr/>
          </a:p>
        </p:txBody>
      </p:sp>
      <p:pic>
        <p:nvPicPr>
          <p:cNvPr id="180" name="Google Shape;180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205037" y="5272087"/>
            <a:ext cx="2571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1478518" y="5757862"/>
            <a:ext cx="171021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Lab &amp; Pharmacy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5580935" y="5757862"/>
            <a:ext cx="103012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Reporting</a:t>
            </a:r>
            <a:endParaRPr/>
          </a:p>
        </p:txBody>
      </p:sp>
      <p:pic>
        <p:nvPicPr>
          <p:cNvPr id="183" name="Google Shape;183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44062" y="5272087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9003268" y="5757862"/>
            <a:ext cx="171021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Communication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571500" y="485775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1A3A73"/>
                </a:solidFill>
                <a:latin typeface="Montserrat" panose="00000500000000000000" pitchFamily="2" charset="0"/>
                <a:ea typeface="Poppins"/>
                <a:cs typeface="Poppins"/>
                <a:sym typeface="Poppins"/>
              </a:rPr>
              <a:t>Functional Modules</a:t>
            </a:r>
            <a:endParaRPr dirty="0">
              <a:latin typeface="Montserrat" panose="00000500000000000000" pitchFamily="2" charset="0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571500" y="1200150"/>
            <a:ext cx="11049000" cy="28575"/>
          </a:xfrm>
          <a:prstGeom prst="rect">
            <a:avLst/>
          </a:prstGeom>
          <a:solidFill>
            <a:srgbClr val="5E8F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6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571500" y="1695450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EA88A"/>
                </a:solidFill>
                <a:latin typeface="Poppins"/>
                <a:ea typeface="Poppins"/>
                <a:cs typeface="Poppins"/>
                <a:sym typeface="Poppins"/>
              </a:rPr>
              <a:t>System Overview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571500" y="2162175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The Level-0 DFD illustrates the high-level workflow of the Digital Front Desk System.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733425" y="3128724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857250" y="3127771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External Entities: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Patient, HIS Database.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733425" y="360676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857250" y="3605807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Core Process: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The Front Desk System acts as the central processor.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733425" y="441995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857250" y="4419004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Data Flow: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Captures Patient Info → Processes Token/Bill → Syncs with HIS.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1A3A73"/>
                </a:solidFill>
                <a:latin typeface="Montserrat" panose="00000500000000000000" pitchFamily="2" charset="0"/>
                <a:ea typeface="Poppins"/>
                <a:cs typeface="Poppins"/>
                <a:sym typeface="Poppins"/>
              </a:rPr>
              <a:t>Level 0 Data Flow Diagram</a:t>
            </a:r>
            <a:endParaRPr dirty="0">
              <a:latin typeface="Montserrat" panose="00000500000000000000" pitchFamily="2" charset="0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5E8F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420DB0-A874-FC47-99EF-BA8896E247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9438" y="1459658"/>
            <a:ext cx="3942354" cy="5041152"/>
          </a:xfrm>
          <a:prstGeom prst="rect">
            <a:avLst/>
          </a:prstGeom>
          <a:effectLst>
            <a:outerShdw sx="1000" sy="1000" algn="ctr" rotWithShape="0">
              <a:srgbClr val="000000"/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571500" y="1695450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EA88A"/>
                </a:solidFill>
                <a:latin typeface="Poppins"/>
                <a:ea typeface="Poppins"/>
                <a:cs typeface="Poppins"/>
                <a:sym typeface="Poppins"/>
              </a:rPr>
              <a:t>Process Decomposition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571500" y="2162175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This diagram breaks down the main system into granular sub-processes.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733425" y="3128724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857250" y="3127771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Registration: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ID Scan, Form Entry, ABHA Check.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733425" y="360676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857250" y="3605807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Token Generation: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Queue Algorithm, Display Update.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733425" y="4492555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218" name="Google Shape;218;p20"/>
          <p:cNvSpPr txBox="1"/>
          <p:nvPr/>
        </p:nvSpPr>
        <p:spPr>
          <a:xfrm>
            <a:off x="857250" y="4417875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Billing:</a:t>
            </a:r>
            <a:r>
              <a:rPr lang="en-US" sz="1650" b="0" i="0" u="none" strike="noStrike" cap="none" dirty="0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Service Selection, Payment Gateway, Receipt.</a:t>
            </a:r>
            <a:endParaRPr dirty="0"/>
          </a:p>
        </p:txBody>
      </p:sp>
      <p:sp>
        <p:nvSpPr>
          <p:cNvPr id="219" name="Google Shape;219;p20"/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1A3A73"/>
                </a:solidFill>
                <a:latin typeface="Montserrat" panose="00000500000000000000" pitchFamily="2" charset="0"/>
                <a:ea typeface="Poppins"/>
                <a:cs typeface="Poppins"/>
                <a:sym typeface="Poppins"/>
              </a:rPr>
              <a:t>Level 1 Data Flow Diagram</a:t>
            </a:r>
            <a:endParaRPr dirty="0">
              <a:latin typeface="Montserrat" panose="00000500000000000000" pitchFamily="2" charset="0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5E8F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571500" y="1695450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EA88A"/>
                </a:solidFill>
                <a:latin typeface="Poppins"/>
                <a:ea typeface="Poppins"/>
                <a:cs typeface="Poppins"/>
                <a:sym typeface="Poppins"/>
              </a:rPr>
              <a:t>System Hierarchy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571500" y="2162175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A visual representation of the system's modular decomposition.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571500" y="2975371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Shows the hierarchy of modules (Root: Main System) down to specific functions (leaf nodes) like 'Print Token' or 'Validate Insurance'.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571500" y="4123729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Highlights the control relationship between the supervisor modules and worker modules.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Structure Chart</a:t>
            </a:r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5E8F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580D59-FC9D-2CED-6B3E-60C27AC9F3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81"/>
          <a:stretch>
            <a:fillRect/>
          </a:stretch>
        </p:blipFill>
        <p:spPr>
          <a:xfrm>
            <a:off x="5923996" y="1819275"/>
            <a:ext cx="6154258" cy="39542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571500" y="1695450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EA88A"/>
                </a:solidFill>
                <a:latin typeface="Poppins"/>
                <a:ea typeface="Poppins"/>
                <a:cs typeface="Poppins"/>
                <a:sym typeface="Poppins"/>
              </a:rPr>
              <a:t>Database Schema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571500" y="2162175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Defines the logical structure of the database.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733425" y="2793563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857250" y="2792610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Patient: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Stores demographics, ABHA ID (PK).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733425" y="3271599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857250" y="3270646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Token: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Links Patient to Queue and Department.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733425" y="3749635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857250" y="3748682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Appointment: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Links Patient to Doctor/Resource.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733425" y="4227671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857250" y="4226718"/>
            <a:ext cx="4953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Bill: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Transaction details, linked to Encounter.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Entity Relationship Diagram</a:t>
            </a:r>
            <a:endParaRPr/>
          </a:p>
        </p:txBody>
      </p:sp>
      <p:sp>
        <p:nvSpPr>
          <p:cNvPr id="252" name="Google Shape;252;p22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5E8F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3E10B3-B7F6-16EF-D529-5DBE8073F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4447" y="1381125"/>
            <a:ext cx="4009803" cy="54622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6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703001"/>
            <a:ext cx="1988790" cy="1206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36515" y="3697634"/>
            <a:ext cx="1988790" cy="1211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01530" y="3697634"/>
            <a:ext cx="1988790" cy="1211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66545" y="3697633"/>
            <a:ext cx="1988790" cy="1206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31560" y="3697632"/>
            <a:ext cx="1988790" cy="1206093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3"/>
          <p:cNvSpPr/>
          <p:nvPr/>
        </p:nvSpPr>
        <p:spPr>
          <a:xfrm>
            <a:off x="571350" y="5131601"/>
            <a:ext cx="11049000" cy="38100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 txBox="1"/>
          <p:nvPr/>
        </p:nvSpPr>
        <p:spPr>
          <a:xfrm>
            <a:off x="741807" y="3785294"/>
            <a:ext cx="1648174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Scan ID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781050" y="4090094"/>
            <a:ext cx="156969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Scan Govt ID or ABHA Card</a:t>
            </a:r>
            <a:endParaRPr dirty="0"/>
          </a:p>
        </p:txBody>
      </p:sp>
      <p:sp>
        <p:nvSpPr>
          <p:cNvPr id="266" name="Google Shape;266;p23"/>
          <p:cNvSpPr txBox="1"/>
          <p:nvPr/>
        </p:nvSpPr>
        <p:spPr>
          <a:xfrm>
            <a:off x="3006822" y="3907184"/>
            <a:ext cx="1648174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Create MRN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3046065" y="4211984"/>
            <a:ext cx="156969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Sync Profile with HIS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5271838" y="3907184"/>
            <a:ext cx="1648174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Token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5311080" y="4211984"/>
            <a:ext cx="156969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Generate &amp; Print Token</a:t>
            </a:r>
            <a:endParaRPr dirty="0"/>
          </a:p>
        </p:txBody>
      </p:sp>
      <p:sp>
        <p:nvSpPr>
          <p:cNvPr id="270" name="Google Shape;270;p23"/>
          <p:cNvSpPr txBox="1"/>
          <p:nvPr/>
        </p:nvSpPr>
        <p:spPr>
          <a:xfrm>
            <a:off x="7536853" y="3907184"/>
            <a:ext cx="1648174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Display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7576095" y="4211984"/>
            <a:ext cx="156969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Update Queue Screen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9801868" y="3907184"/>
            <a:ext cx="1648174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Notify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9841110" y="4211984"/>
            <a:ext cx="156969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Send SMS Confirmation</a:t>
            </a:r>
            <a:endParaRPr/>
          </a:p>
        </p:txBody>
      </p:sp>
      <p:pic>
        <p:nvPicPr>
          <p:cNvPr id="274" name="Google Shape;274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22908" y="3832919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168848" y="3954809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700563" y="3954809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898903" y="3954809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249644" y="3954809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3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Primary Workflow (Walk-in Patient)</a:t>
            </a:r>
            <a:endParaRPr/>
          </a:p>
        </p:txBody>
      </p:sp>
      <p:sp>
        <p:nvSpPr>
          <p:cNvPr id="280" name="Google Shape;280;p23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5E8F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E2B9B27-92F6-E448-0BD1-5172D7C07D17}"/>
              </a:ext>
            </a:extLst>
          </p:cNvPr>
          <p:cNvCxnSpPr/>
          <p:nvPr/>
        </p:nvCxnSpPr>
        <p:spPr>
          <a:xfrm>
            <a:off x="741807" y="3258881"/>
            <a:ext cx="1018846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45308"/>
            <a:ext cx="3492549" cy="2091332"/>
          </a:xfrm>
          <a:prstGeom prst="rect">
            <a:avLst/>
          </a:prstGeom>
          <a:noFill/>
          <a:ln>
            <a:noFill/>
          </a:ln>
          <a:effectLst>
            <a:outerShdw blurRad="406400" dist="50800" dir="5400000" sx="101000" sy="101000" algn="ctr" rotWithShape="0">
              <a:srgbClr val="000000">
                <a:alpha val="53000"/>
              </a:srgbClr>
            </a:outerShdw>
          </a:effectLst>
        </p:spPr>
      </p:pic>
      <p:pic>
        <p:nvPicPr>
          <p:cNvPr id="287" name="Google Shape;28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945308"/>
            <a:ext cx="3492549" cy="2091332"/>
          </a:xfrm>
          <a:prstGeom prst="rect">
            <a:avLst/>
          </a:prstGeom>
          <a:noFill/>
          <a:ln>
            <a:noFill/>
          </a:ln>
          <a:effectLst>
            <a:outerShdw blurRad="406400" dist="50800" dir="5400000" sx="101000" sy="101000" algn="ctr" rotWithShape="0">
              <a:srgbClr val="000000">
                <a:alpha val="53000"/>
              </a:srgbClr>
            </a:outerShdw>
          </a:effectLst>
        </p:spPr>
      </p:pic>
      <p:pic>
        <p:nvPicPr>
          <p:cNvPr id="288" name="Google Shape;288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945308"/>
            <a:ext cx="3492549" cy="2091332"/>
          </a:xfrm>
          <a:prstGeom prst="rect">
            <a:avLst/>
          </a:prstGeom>
          <a:noFill/>
          <a:ln>
            <a:noFill/>
          </a:ln>
          <a:effectLst>
            <a:outerShdw blurRad="457200" dist="50800" dir="5400000" sx="101000" sy="101000" algn="ctr" rotWithShape="0">
              <a:srgbClr val="000000">
                <a:alpha val="53000"/>
              </a:srgbClr>
            </a:outerShdw>
          </a:effectLst>
        </p:spPr>
      </p:pic>
      <p:sp>
        <p:nvSpPr>
          <p:cNvPr id="289" name="Google Shape;289;p24"/>
          <p:cNvSpPr txBox="1"/>
          <p:nvPr/>
        </p:nvSpPr>
        <p:spPr>
          <a:xfrm>
            <a:off x="966787" y="3243262"/>
            <a:ext cx="3117108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2EA88A"/>
                </a:solidFill>
                <a:latin typeface="Poppins"/>
                <a:ea typeface="Poppins"/>
                <a:cs typeface="Poppins"/>
                <a:sym typeface="Poppins"/>
              </a:rPr>
              <a:t>Security</a:t>
            </a:r>
            <a:endParaRPr dirty="0"/>
          </a:p>
        </p:txBody>
      </p:sp>
      <p:sp>
        <p:nvSpPr>
          <p:cNvPr id="290" name="Google Shape;290;p24"/>
          <p:cNvSpPr txBox="1"/>
          <p:nvPr/>
        </p:nvSpPr>
        <p:spPr>
          <a:xfrm>
            <a:off x="857250" y="3650158"/>
            <a:ext cx="2968674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TLS 1.2+ encryption, Role-Based Access Control (RBAC), and comprehensive Audit Logs.</a:t>
            </a:r>
            <a:endParaRPr dirty="0"/>
          </a:p>
        </p:txBody>
      </p:sp>
      <p:sp>
        <p:nvSpPr>
          <p:cNvPr id="291" name="Google Shape;291;p24"/>
          <p:cNvSpPr txBox="1"/>
          <p:nvPr/>
        </p:nvSpPr>
        <p:spPr>
          <a:xfrm>
            <a:off x="4770086" y="3240583"/>
            <a:ext cx="3117108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EA88A"/>
                </a:solidFill>
                <a:latin typeface="Poppins"/>
                <a:ea typeface="Poppins"/>
                <a:cs typeface="Poppins"/>
                <a:sym typeface="Poppins"/>
              </a:rPr>
              <a:t>Performance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4635549" y="3650158"/>
            <a:ext cx="2968674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Token generation and display updates must occur in under 2 seconds.</a:t>
            </a:r>
            <a:endParaRPr dirty="0"/>
          </a:p>
        </p:txBody>
      </p:sp>
      <p:sp>
        <p:nvSpPr>
          <p:cNvPr id="293" name="Google Shape;293;p24"/>
          <p:cNvSpPr txBox="1"/>
          <p:nvPr/>
        </p:nvSpPr>
        <p:spPr>
          <a:xfrm>
            <a:off x="8537674" y="3228159"/>
            <a:ext cx="3117108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2EA88A"/>
                </a:solidFill>
                <a:latin typeface="Poppins"/>
                <a:ea typeface="Poppins"/>
                <a:cs typeface="Poppins"/>
                <a:sym typeface="Poppins"/>
              </a:rPr>
              <a:t>Availability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8413849" y="3650158"/>
            <a:ext cx="2968674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99.5% system uptime guarantee to ensure 24/7 hospital operations.</a:t>
            </a:r>
            <a:endParaRPr dirty="0"/>
          </a:p>
        </p:txBody>
      </p:sp>
      <p:pic>
        <p:nvPicPr>
          <p:cNvPr id="295" name="Google Shape;295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3240583"/>
            <a:ext cx="2190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5549" y="3240583"/>
            <a:ext cx="2190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13849" y="3240583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4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Non-Functional Requirements</a:t>
            </a:r>
            <a:endParaRPr/>
          </a:p>
        </p:txBody>
      </p:sp>
      <p:sp>
        <p:nvSpPr>
          <p:cNvPr id="299" name="Google Shape;299;p24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5E8F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5" name="Google Shape;305;p25"/>
          <p:cNvGraphicFramePr/>
          <p:nvPr>
            <p:extLst>
              <p:ext uri="{D42A27DB-BD31-4B8C-83A1-F6EECF244321}">
                <p14:modId xmlns:p14="http://schemas.microsoft.com/office/powerpoint/2010/main" val="1639946959"/>
              </p:ext>
            </p:extLst>
          </p:nvPr>
        </p:nvGraphicFramePr>
        <p:xfrm>
          <a:off x="2819400" y="2648098"/>
          <a:ext cx="6553200" cy="2685750"/>
        </p:xfrm>
        <a:graphic>
          <a:graphicData uri="http://schemas.openxmlformats.org/drawingml/2006/table">
            <a:tbl>
              <a:tblPr firstRow="1" bandRow="1">
                <a:noFill/>
                <a:effectLst>
                  <a:outerShdw blurRad="457200" dist="50800" dir="5400000" sx="101000" sy="101000" algn="ctr" rotWithShape="0">
                    <a:srgbClr val="000000">
                      <a:alpha val="53000"/>
                    </a:srgbClr>
                  </a:outerShdw>
                </a:effectLst>
                <a:tableStyleId>{D48ED40A-B548-496F-B19E-093D507990CA}</a:tableStyleId>
              </a:tblPr>
              <a:tblGrid>
                <a:gridCol w="771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7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A7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Test Scenario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A7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Acceptance Criteria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3A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5555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TC-001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5555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Register New Patient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5555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MRN syncs to HIS database within 5 seconds.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5555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TC-002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5555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Issue Queue Token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5555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Token number appears on lobby display board &lt; 2 seconds.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5555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TC-003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5555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ABHA Validation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5555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System returns meaningful error message if API is down.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5555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TC-004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5555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Billing Integration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5555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Payment status updates in HIS immediately after success.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6" name="Google Shape;306;p25"/>
          <p:cNvSpPr/>
          <p:nvPr/>
        </p:nvSpPr>
        <p:spPr>
          <a:xfrm>
            <a:off x="2819400" y="3702397"/>
            <a:ext cx="77152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3590925" y="3702397"/>
            <a:ext cx="16764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5267325" y="3702397"/>
            <a:ext cx="410527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/>
          <p:nvPr/>
        </p:nvSpPr>
        <p:spPr>
          <a:xfrm>
            <a:off x="2819400" y="4241452"/>
            <a:ext cx="77152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/>
          <p:nvPr/>
        </p:nvSpPr>
        <p:spPr>
          <a:xfrm>
            <a:off x="3590925" y="4241452"/>
            <a:ext cx="16764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5"/>
          <p:cNvSpPr/>
          <p:nvPr/>
        </p:nvSpPr>
        <p:spPr>
          <a:xfrm>
            <a:off x="5267325" y="4241452"/>
            <a:ext cx="410527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5"/>
          <p:cNvSpPr/>
          <p:nvPr/>
        </p:nvSpPr>
        <p:spPr>
          <a:xfrm>
            <a:off x="2819400" y="4780508"/>
            <a:ext cx="77152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5"/>
          <p:cNvSpPr/>
          <p:nvPr/>
        </p:nvSpPr>
        <p:spPr>
          <a:xfrm>
            <a:off x="3590925" y="4780508"/>
            <a:ext cx="16764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5"/>
          <p:cNvSpPr/>
          <p:nvPr/>
        </p:nvSpPr>
        <p:spPr>
          <a:xfrm>
            <a:off x="5267325" y="4780508"/>
            <a:ext cx="410527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5"/>
          <p:cNvSpPr/>
          <p:nvPr/>
        </p:nvSpPr>
        <p:spPr>
          <a:xfrm>
            <a:off x="2819400" y="5319563"/>
            <a:ext cx="77152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5"/>
          <p:cNvSpPr/>
          <p:nvPr/>
        </p:nvSpPr>
        <p:spPr>
          <a:xfrm>
            <a:off x="3590925" y="5319563"/>
            <a:ext cx="16764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5"/>
          <p:cNvSpPr/>
          <p:nvPr/>
        </p:nvSpPr>
        <p:spPr>
          <a:xfrm>
            <a:off x="5267325" y="5319563"/>
            <a:ext cx="4105275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1A3A73"/>
                </a:solidFill>
                <a:latin typeface="Montserrat" panose="00000500000000000000" pitchFamily="2" charset="0"/>
                <a:ea typeface="Poppins"/>
                <a:cs typeface="Poppins"/>
                <a:sym typeface="Poppins"/>
              </a:rPr>
              <a:t>Testing &amp; Validation</a:t>
            </a:r>
            <a:endParaRPr dirty="0">
              <a:latin typeface="Montserrat" panose="00000500000000000000" pitchFamily="2" charset="0"/>
            </a:endParaRPr>
          </a:p>
        </p:txBody>
      </p:sp>
      <p:sp>
        <p:nvSpPr>
          <p:cNvPr id="319" name="Google Shape;319;p25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5E8F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95450"/>
            <a:ext cx="5238750" cy="4591050"/>
          </a:xfrm>
          <a:prstGeom prst="rect">
            <a:avLst/>
          </a:prstGeom>
          <a:noFill/>
          <a:ln>
            <a:noFill/>
          </a:ln>
          <a:effectLst>
            <a:outerShdw blurRad="457200" dist="50800" dir="5400000" sx="101000" sy="101000" algn="ctr" rotWithShape="0">
              <a:srgbClr val="000000">
                <a:alpha val="53000"/>
              </a:srgbClr>
            </a:outerShdw>
          </a:effectLst>
        </p:spPr>
      </p:pic>
      <p:pic>
        <p:nvPicPr>
          <p:cNvPr id="326" name="Google Shape;326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695450"/>
            <a:ext cx="5238750" cy="4591050"/>
          </a:xfrm>
          <a:prstGeom prst="rect">
            <a:avLst/>
          </a:prstGeom>
          <a:noFill/>
          <a:ln>
            <a:noFill/>
          </a:ln>
          <a:effectLst>
            <a:outerShdw blurRad="457200" dist="50800" dir="5400000" sx="101000" sy="101000" algn="ctr" rotWithShape="0">
              <a:srgbClr val="000000">
                <a:alpha val="53000"/>
              </a:srgbClr>
            </a:outerShdw>
          </a:effectLst>
        </p:spPr>
      </p:pic>
      <p:sp>
        <p:nvSpPr>
          <p:cNvPr id="327" name="Google Shape;327;p26"/>
          <p:cNvSpPr txBox="1"/>
          <p:nvPr/>
        </p:nvSpPr>
        <p:spPr>
          <a:xfrm>
            <a:off x="981075" y="1990724"/>
            <a:ext cx="490061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2EA88A"/>
                </a:solidFill>
                <a:latin typeface="Poppins"/>
                <a:ea typeface="Poppins"/>
                <a:cs typeface="Poppins"/>
                <a:sym typeface="Poppins"/>
              </a:rPr>
              <a:t>Limitations</a:t>
            </a:r>
            <a:endParaRPr dirty="0"/>
          </a:p>
        </p:txBody>
      </p:sp>
      <p:sp>
        <p:nvSpPr>
          <p:cNvPr id="328" name="Google Shape;328;p26"/>
          <p:cNvSpPr txBox="1"/>
          <p:nvPr/>
        </p:nvSpPr>
        <p:spPr>
          <a:xfrm>
            <a:off x="6667500" y="1981200"/>
            <a:ext cx="490061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2EA88A"/>
                </a:solidFill>
                <a:latin typeface="Poppins"/>
                <a:ea typeface="Poppins"/>
                <a:cs typeface="Poppins"/>
                <a:sym typeface="Poppins"/>
              </a:rPr>
              <a:t>Future Scope</a:t>
            </a:r>
            <a:endParaRPr dirty="0"/>
          </a:p>
        </p:txBody>
      </p:sp>
      <p:pic>
        <p:nvPicPr>
          <p:cNvPr id="329" name="Google Shape;329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203" y="2008555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6"/>
          <p:cNvSpPr txBox="1"/>
          <p:nvPr/>
        </p:nvSpPr>
        <p:spPr>
          <a:xfrm>
            <a:off x="1019175" y="250602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31" name="Google Shape;331;p26"/>
          <p:cNvSpPr txBox="1"/>
          <p:nvPr/>
        </p:nvSpPr>
        <p:spPr>
          <a:xfrm>
            <a:off x="1143000" y="2505075"/>
            <a:ext cx="4381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Heavy dependency on HIS connectivity; offline mode is limited.</a:t>
            </a:r>
            <a:endParaRPr/>
          </a:p>
        </p:txBody>
      </p:sp>
      <p:sp>
        <p:nvSpPr>
          <p:cNvPr id="332" name="Google Shape;332;p26"/>
          <p:cNvSpPr txBox="1"/>
          <p:nvPr/>
        </p:nvSpPr>
        <p:spPr>
          <a:xfrm>
            <a:off x="1019175" y="3319224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33" name="Google Shape;333;p26"/>
          <p:cNvSpPr txBox="1"/>
          <p:nvPr/>
        </p:nvSpPr>
        <p:spPr>
          <a:xfrm>
            <a:off x="1143000" y="3318271"/>
            <a:ext cx="4381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External API failures (Insurance/ABHA) may delay check-in.</a:t>
            </a:r>
            <a:endParaRPr/>
          </a:p>
        </p:txBody>
      </p:sp>
      <p:sp>
        <p:nvSpPr>
          <p:cNvPr id="334" name="Google Shape;334;p26"/>
          <p:cNvSpPr txBox="1"/>
          <p:nvPr/>
        </p:nvSpPr>
        <p:spPr>
          <a:xfrm>
            <a:off x="1019175" y="4132421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35" name="Google Shape;335;p26"/>
          <p:cNvSpPr txBox="1"/>
          <p:nvPr/>
        </p:nvSpPr>
        <p:spPr>
          <a:xfrm>
            <a:off x="1143000" y="4131468"/>
            <a:ext cx="4381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Requires initial hardware setup (scanners, printers, kiosks).</a:t>
            </a:r>
            <a:endParaRPr/>
          </a:p>
        </p:txBody>
      </p:sp>
      <p:pic>
        <p:nvPicPr>
          <p:cNvPr id="336" name="Google Shape;336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15112" y="2026205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6"/>
          <p:cNvSpPr txBox="1"/>
          <p:nvPr/>
        </p:nvSpPr>
        <p:spPr>
          <a:xfrm>
            <a:off x="6829425" y="250602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38" name="Google Shape;338;p26"/>
          <p:cNvSpPr txBox="1"/>
          <p:nvPr/>
        </p:nvSpPr>
        <p:spPr>
          <a:xfrm>
            <a:off x="6953250" y="2505075"/>
            <a:ext cx="4381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AI Queue Prediction: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Suggest best arrival times.</a:t>
            </a:r>
            <a:endParaRPr/>
          </a:p>
        </p:txBody>
      </p:sp>
      <p:sp>
        <p:nvSpPr>
          <p:cNvPr id="339" name="Google Shape;339;p26"/>
          <p:cNvSpPr txBox="1"/>
          <p:nvPr/>
        </p:nvSpPr>
        <p:spPr>
          <a:xfrm>
            <a:off x="6829425" y="3319224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0" name="Google Shape;340;p26"/>
          <p:cNvSpPr txBox="1"/>
          <p:nvPr/>
        </p:nvSpPr>
        <p:spPr>
          <a:xfrm>
            <a:off x="6953250" y="3318271"/>
            <a:ext cx="4381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Self-Check-in Kiosks: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Hardware integration.</a:t>
            </a:r>
            <a:endParaRPr/>
          </a:p>
        </p:txBody>
      </p:sp>
      <p:sp>
        <p:nvSpPr>
          <p:cNvPr id="341" name="Google Shape;341;p26"/>
          <p:cNvSpPr txBox="1"/>
          <p:nvPr/>
        </p:nvSpPr>
        <p:spPr>
          <a:xfrm>
            <a:off x="6829425" y="379726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2" name="Google Shape;342;p26"/>
          <p:cNvSpPr txBox="1"/>
          <p:nvPr/>
        </p:nvSpPr>
        <p:spPr>
          <a:xfrm>
            <a:off x="6953250" y="3796307"/>
            <a:ext cx="4381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Chatbot: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WhatsApp-based appointment booking.</a:t>
            </a:r>
            <a:endParaRPr/>
          </a:p>
        </p:txBody>
      </p:sp>
      <p:sp>
        <p:nvSpPr>
          <p:cNvPr id="343" name="Google Shape;343;p26"/>
          <p:cNvSpPr txBox="1"/>
          <p:nvPr/>
        </p:nvSpPr>
        <p:spPr>
          <a:xfrm>
            <a:off x="6829425" y="461045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44" name="Google Shape;344;p26"/>
          <p:cNvSpPr txBox="1"/>
          <p:nvPr/>
        </p:nvSpPr>
        <p:spPr>
          <a:xfrm>
            <a:off x="6953250" y="4609504"/>
            <a:ext cx="4381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Indoor Navigation:</a:t>
            </a: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Guide patients to rooms via app.</a:t>
            </a:r>
            <a:endParaRPr/>
          </a:p>
        </p:txBody>
      </p:sp>
      <p:sp>
        <p:nvSpPr>
          <p:cNvPr id="345" name="Google Shape;345;p26"/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1A3A73"/>
                </a:solidFill>
                <a:latin typeface="Montserrat" panose="00000500000000000000" pitchFamily="2" charset="0"/>
                <a:ea typeface="Poppins"/>
                <a:cs typeface="Poppins"/>
                <a:sym typeface="Poppins"/>
              </a:rPr>
              <a:t>Limitations &amp; Future Scope</a:t>
            </a:r>
            <a:endParaRPr dirty="0">
              <a:latin typeface="Montserrat" panose="00000500000000000000" pitchFamily="2" charset="0"/>
            </a:endParaRPr>
          </a:p>
        </p:txBody>
      </p:sp>
      <p:sp>
        <p:nvSpPr>
          <p:cNvPr id="346" name="Google Shape;346;p26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5E8F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7"/>
          <p:cNvSpPr txBox="1"/>
          <p:nvPr/>
        </p:nvSpPr>
        <p:spPr>
          <a:xfrm>
            <a:off x="4475797" y="1229022"/>
            <a:ext cx="3240405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A3A73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/>
          </a:p>
        </p:txBody>
      </p:sp>
      <p:sp>
        <p:nvSpPr>
          <p:cNvPr id="354" name="Google Shape;354;p27"/>
          <p:cNvSpPr txBox="1"/>
          <p:nvPr/>
        </p:nvSpPr>
        <p:spPr>
          <a:xfrm>
            <a:off x="3048000" y="2381547"/>
            <a:ext cx="6858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The Digital Front Desk System effectively modernizes hospital reception operations.</a:t>
            </a:r>
            <a:endParaRPr/>
          </a:p>
        </p:txBody>
      </p:sp>
      <p:sp>
        <p:nvSpPr>
          <p:cNvPr id="355" name="Google Shape;355;p27"/>
          <p:cNvSpPr txBox="1"/>
          <p:nvPr/>
        </p:nvSpPr>
        <p:spPr>
          <a:xfrm>
            <a:off x="3048000" y="3242369"/>
            <a:ext cx="685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Ensures operational efficiency, data accuracy, and improved patient flow.</a:t>
            </a:r>
            <a:endParaRPr/>
          </a:p>
        </p:txBody>
      </p:sp>
      <p:sp>
        <p:nvSpPr>
          <p:cNvPr id="356" name="Google Shape;356;p27"/>
          <p:cNvSpPr txBox="1"/>
          <p:nvPr/>
        </p:nvSpPr>
        <p:spPr>
          <a:xfrm>
            <a:off x="3048000" y="3768030"/>
            <a:ext cx="685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Seamlessly integrates with existing HIS, LIS, and NDHM ecosystems.</a:t>
            </a:r>
            <a:endParaRPr/>
          </a:p>
        </p:txBody>
      </p:sp>
      <p:sp>
        <p:nvSpPr>
          <p:cNvPr id="357" name="Google Shape;357;p27"/>
          <p:cNvSpPr txBox="1"/>
          <p:nvPr/>
        </p:nvSpPr>
        <p:spPr>
          <a:xfrm>
            <a:off x="3048000" y="4293691"/>
            <a:ext cx="6858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Scalable design ready for future AI and IoT enhancements.</a:t>
            </a:r>
            <a:endParaRPr/>
          </a:p>
        </p:txBody>
      </p:sp>
      <p:pic>
        <p:nvPicPr>
          <p:cNvPr id="358" name="Google Shape;358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1750" y="241964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1750" y="3280469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71750" y="380613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71750" y="4331791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351;p27" descr="image.png">
            <a:extLst>
              <a:ext uri="{FF2B5EF4-FFF2-40B4-BE49-F238E27FC236}">
                <a16:creationId xmlns:a16="http://schemas.microsoft.com/office/drawing/2014/main" id="{1A3E9E21-CB43-76CB-9393-9EA0FE52DA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32F943-D88A-7B5D-21D4-A3B9098062B6}"/>
              </a:ext>
            </a:extLst>
          </p:cNvPr>
          <p:cNvSpPr txBox="1"/>
          <p:nvPr/>
        </p:nvSpPr>
        <p:spPr>
          <a:xfrm>
            <a:off x="3047456" y="1733695"/>
            <a:ext cx="6097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chemeClr val="bg2">
                    <a:lumMod val="75000"/>
                  </a:schemeClr>
                </a:solidFill>
                <a:latin typeface="Montserrat" panose="00000500000000000000" pitchFamily="2" charset="0"/>
                <a:ea typeface="Poppins"/>
                <a:cs typeface="Poppins"/>
                <a:sym typeface="Poppins"/>
              </a:rPr>
              <a:t>Thank You</a:t>
            </a:r>
            <a:endParaRPr lang="en-US" sz="5400" dirty="0">
              <a:solidFill>
                <a:schemeClr val="bg2">
                  <a:lumMod val="7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B2B53E-6569-4F7D-F846-EF8F09F283C4}"/>
              </a:ext>
            </a:extLst>
          </p:cNvPr>
          <p:cNvSpPr txBox="1"/>
          <p:nvPr/>
        </p:nvSpPr>
        <p:spPr>
          <a:xfrm>
            <a:off x="3047456" y="3225037"/>
            <a:ext cx="60970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latin typeface="Montserrat" panose="00000500000000000000" pitchFamily="2" charset="0"/>
              </a:rPr>
              <a:t>Any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781</Words>
  <Application>Microsoft Office PowerPoint</Application>
  <PresentationFormat>Widescreen</PresentationFormat>
  <Paragraphs>137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Lato</vt:lpstr>
      <vt:lpstr>Calibri</vt:lpstr>
      <vt:lpstr>Montserrat</vt:lpstr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Raktimranjan Handique</dc:creator>
  <cp:lastModifiedBy>Raktimranjan Handique</cp:lastModifiedBy>
  <cp:revision>1</cp:revision>
  <dcterms:modified xsi:type="dcterms:W3CDTF">2025-11-24T15:16:55Z</dcterms:modified>
</cp:coreProperties>
</file>