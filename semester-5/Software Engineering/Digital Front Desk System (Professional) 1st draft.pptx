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AC2925-0298-4620-86BD-4CE86A8F8210}">
  <a:tblStyle styleId="{E5AC2925-0298-4620-86BD-4CE86A8F82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4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0.png"/><Relationship Id="rId5" Type="http://schemas.openxmlformats.org/officeDocument/2006/relationships/image" Target="../media/image10.png"/><Relationship Id="rId10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574678"/>
            <a:ext cx="11239500" cy="105340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333500" y="1229766"/>
            <a:ext cx="1085850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Digital Front Desk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System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952500" y="1229766"/>
            <a:ext cx="76200" cy="1508521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3195488"/>
            <a:ext cx="11239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Modernizing Patient Management for Private Hospitals in India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952500" y="5079503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Software Engineering (CO311)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810000" y="5079503"/>
            <a:ext cx="1704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CSB23010 | CSB23012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810038" y="5731894"/>
            <a:ext cx="1704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CSB23016 | CSB23017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86474" y="5079503"/>
            <a:ext cx="141479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Autumn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r>
              <a:rPr lang="en-US" sz="1350" b="1" baseline="30000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US" sz="135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November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6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91400" y="2300287"/>
            <a:ext cx="40386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381000"/>
            <a:ext cx="588573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PROBLEM STATEMENT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410950" y="666750"/>
            <a:ext cx="20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2410866"/>
            <a:ext cx="6057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"Traditional processes consist of disconnected steps... increasing the risk of critical errors."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86650" y="2395537"/>
            <a:ext cx="1695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47750" y="3427958"/>
            <a:ext cx="5772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Fragmented Workflows: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Disconnect between reception, billing, and clinical staff.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47750" y="4151858"/>
            <a:ext cx="5772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Manual Data Entry: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risk of clerical errors in patient records.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47750" y="4570958"/>
            <a:ext cx="5772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Inefficiency: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Long wait times lead to patient dissatisfaction.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47750" y="4990058"/>
            <a:ext cx="5772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Compliance Gaps: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Difficulty adhering to NDHM standards with paper files.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4660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899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6090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0281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91400" y="1417433"/>
            <a:ext cx="4497300" cy="44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381000"/>
            <a:ext cx="481060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SOLUTION SCOPE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879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Receptionist Module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572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specialized, web-based interface designed strictly for front-desk efficiency, not a full HIS replacement.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6391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Integration Hub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7084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Acts as the bridge between HIS, LIS, Payment Gateways, and NDHM/ABDM national services.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60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290303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Core Functions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596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Streamlines Appointments, Registration, Queues, Billing Initiation, and Communications.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87475" y="297760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676" y="297760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47026" y="2977604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381000"/>
            <a:ext cx="8636079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REGISTRATION &amp; QUEUE MANAGEMENT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466850" y="1876425"/>
            <a:ext cx="41505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Patient Registration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5252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Standardizing entry with NDHM compliance.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200900" y="1876425"/>
            <a:ext cx="40305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Queue Management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77227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Reducing chaos in waiting areas.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19002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438275" y="3086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Captures Demographics &amp; ID Proofs securely.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438275" y="35052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ABHA Integration: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Auto-generates or links Health IDs.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438275" y="4229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Assigns unique Medical Record Number (MRN).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190023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058025" y="3086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Auto-generates sequential tokens.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058025" y="35052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Sync: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Updates waiting room screens instantly.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7058025" y="4229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SMS/WhatsApp notifications.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543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267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543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42672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62000" y="381000"/>
            <a:ext cx="803100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BILLING &amp; INSURANCE VERIFICATION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552575" y="1876425"/>
            <a:ext cx="4060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Billing Initiation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15252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Capturing revenue before care begins.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086600" y="1876425"/>
            <a:ext cx="41505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Insurance Check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7227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Preventing claim rejections.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190023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438275" y="3086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Creates "Provisional Bills" at the front desk.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438275" y="35052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Accepts multi-mode payments (Cash, UPI, Card).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438275" y="39243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Reconciles immediately with HIS finance modules.</a:t>
            </a:r>
            <a:endParaRPr/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19002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7058025" y="30861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Eligibility: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API-based coverage checks.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058025" y="38100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AB-PMJAY government schemes.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058025" y="4229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pre-authorization workflows.</a:t>
            </a:r>
            <a:endParaRPr/>
          </a:p>
        </p:txBody>
      </p:sp>
      <p:pic>
        <p:nvPicPr>
          <p:cNvPr id="187" name="Google Shape;18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543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962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42672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762000" y="381000"/>
            <a:ext cx="761595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NON-FUNCTIONAL REQUIREMENTS</a:t>
            </a:r>
            <a:endParaRPr/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9879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0572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Role-Based Access Control (RBAC).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TLS 1.2+ Encryption.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Audit Trails for all actions.</a:t>
            </a:r>
            <a:endParaRPr/>
          </a:p>
        </p:txBody>
      </p:sp>
      <p:pic>
        <p:nvPicPr>
          <p:cNvPr id="207" name="Google Shape;20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46391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47084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Token issuance &lt; 2 seconds.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Supports 100+ concurrent sessions.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99.5% Uptime SLA.</a:t>
            </a:r>
            <a:endParaRPr/>
          </a:p>
        </p:txBody>
      </p:sp>
      <p:pic>
        <p:nvPicPr>
          <p:cNvPr id="210" name="Google Shape;21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60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8290303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Compliance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3596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NDHM/ABDM standards.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NABH data retention policies.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Data residency within India.</a:t>
            </a:r>
            <a:endParaRPr/>
          </a:p>
        </p:txBody>
      </p:sp>
      <p:pic>
        <p:nvPicPr>
          <p:cNvPr id="213" name="Google Shape;21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16050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7251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61301" y="2977604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 descr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823" y="1414462"/>
            <a:ext cx="609600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762000" y="381000"/>
            <a:ext cx="517564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762000" y="263842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Level 0 Data Flow Diagram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62000" y="32480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DFD acts as the central orchestration hub.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047750" y="388620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Patient Data, Payments, Appt Requests.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1047750" y="430530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Outputs: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Tokens, Receipts, Notifications.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1047750" y="472440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Connectors: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Bridges Receptionist, HIS, and Patients.</a:t>
            </a:r>
            <a:endParaRPr/>
          </a:p>
        </p:txBody>
      </p:sp>
      <p:pic>
        <p:nvPicPr>
          <p:cNvPr id="230" name="Google Shape;23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343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762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 rotWithShape="1">
          <a:blip r:embed="rId7">
            <a:alphaModFix/>
          </a:blip>
          <a:srcRect t="2267"/>
          <a:stretch/>
        </p:blipFill>
        <p:spPr>
          <a:xfrm>
            <a:off x="5184375" y="2201275"/>
            <a:ext cx="7007626" cy="37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874C7D2-821D-D02E-7B0F-8B492C192402}"/>
              </a:ext>
            </a:extLst>
          </p:cNvPr>
          <p:cNvSpPr/>
          <p:nvPr/>
        </p:nvSpPr>
        <p:spPr>
          <a:xfrm>
            <a:off x="5334000" y="2201275"/>
            <a:ext cx="1706880" cy="437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762000" y="381000"/>
            <a:ext cx="5395674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MODEL &amp; ENTITIES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1152525" y="1876425"/>
            <a:ext cx="448056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Core Entities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772275" y="1876425"/>
            <a:ext cx="448056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Transactional Entities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438275" y="24479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Patient: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MRN, ABHA, Demographics.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438275" y="28670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Appointment: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Doctor Link, Time Slot, Status.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1438275" y="32861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Token: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Queue Number, Issue Time.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058025" y="24479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Encounter: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Clinical Visit Record.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7058025" y="28670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Provisional Bill: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Line Items, Totals.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7058025" y="32861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Payment: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Transaction ID, Method, Status.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2486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2905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324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486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905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33242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762000" y="381000"/>
            <a:ext cx="623077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INTEGRATION &amp; TECH STACK</a:t>
            </a:r>
            <a:endParaRPr/>
          </a:p>
        </p:txBody>
      </p:sp>
      <p:pic>
        <p:nvPicPr>
          <p:cNvPr id="269" name="Google Shape;26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9879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Environment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0572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Linux (Ubuntu LTS) on Cloud/On-Prem.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Node.js / Java Backend.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PostgreSQL Database.</a:t>
            </a:r>
            <a:endParaRPr/>
          </a:p>
        </p:txBody>
      </p:sp>
      <p:pic>
        <p:nvPicPr>
          <p:cNvPr id="272" name="Google Shape;27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46391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Standards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47084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HL7 v2.x:</a:t>
            </a: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Legacy HIS.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FHIR R4:</a:t>
            </a: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NDHM Data Exchange.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JSON/REST:</a:t>
            </a: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Internal APIs.</a:t>
            </a:r>
            <a:endParaRPr/>
          </a:p>
        </p:txBody>
      </p:sp>
      <p:pic>
        <p:nvPicPr>
          <p:cNvPr id="275" name="Google Shape;27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60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8290303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3596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OAuth2 Authentication.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Swagger/OpenAPI Docs.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Encrypted Data Storage.</a:t>
            </a:r>
            <a:endParaRPr/>
          </a:p>
        </p:txBody>
      </p:sp>
      <p:pic>
        <p:nvPicPr>
          <p:cNvPr id="278" name="Google Shape;27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87475" y="297760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7251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18451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" y="1457324"/>
            <a:ext cx="609600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762000" y="381000"/>
            <a:ext cx="49006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PRIMARY WORKFLOW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762000" y="2538412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Walk-in Registration Flow</a:t>
            </a:r>
            <a:endParaRPr dirty="0"/>
          </a:p>
        </p:txBody>
      </p:sp>
      <p:pic>
        <p:nvPicPr>
          <p:cNvPr id="291" name="Google Shape;291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1900" y="1603450"/>
            <a:ext cx="5708600" cy="47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800100" y="312896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952500" y="31289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Receptionist scans ID or ABHA QR code.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800100" y="354806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952500" y="35480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System auto-generates MRN.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800100" y="396716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952500" y="39671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Issue: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Digital token is assigned to patient.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00100" y="438626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52500" y="43862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Sync: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Queue screens update instantly.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00100" y="480536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952500" y="48053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Notify: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Patient receives SMS confirmation.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762000" y="381000"/>
            <a:ext cx="507063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VALIDATION &amp; TESTING</a:t>
            </a:r>
            <a:endParaRPr/>
          </a:p>
        </p:txBody>
      </p:sp>
      <p:graphicFrame>
        <p:nvGraphicFramePr>
          <p:cNvPr id="310" name="Google Shape;310;p23"/>
          <p:cNvGraphicFramePr/>
          <p:nvPr/>
        </p:nvGraphicFramePr>
        <p:xfrm>
          <a:off x="762000" y="2538412"/>
          <a:ext cx="10658475" cy="2857500"/>
        </p:xfrm>
        <a:graphic>
          <a:graphicData uri="http://schemas.openxmlformats.org/drawingml/2006/table">
            <a:tbl>
              <a:tblPr firstRow="1" bandRow="1">
                <a:noFill/>
                <a:tableStyleId>{E5AC2925-0298-4620-86BD-4CE86A8F8210}</a:tableStyleId>
              </a:tblPr>
              <a:tblGrid>
                <a:gridCol w="15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Acceptance Criteria / Test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New Patient Registration Sync to HIS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5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AC-02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Token Display Update Latency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2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ABHA Integration (Valid/Invalid Flag)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 / Fail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Insurance API Failure Fallback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Graceful Msg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1" name="Google Shape;311;p23"/>
          <p:cNvSpPr/>
          <p:nvPr/>
        </p:nvSpPr>
        <p:spPr>
          <a:xfrm>
            <a:off x="766762" y="3081337"/>
            <a:ext cx="159871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2365474" y="3081337"/>
            <a:ext cx="692794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9293423" y="3081337"/>
            <a:ext cx="213181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766762" y="3667125"/>
            <a:ext cx="1598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2365474" y="3667125"/>
            <a:ext cx="6927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9293423" y="3667125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766762" y="4238625"/>
            <a:ext cx="1598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2365474" y="4238625"/>
            <a:ext cx="6927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9293423" y="4238625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766762" y="4810125"/>
            <a:ext cx="1598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2365474" y="4810125"/>
            <a:ext cx="6927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9293423" y="4810125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 txBox="1"/>
          <p:nvPr/>
        </p:nvSpPr>
        <p:spPr>
          <a:xfrm>
            <a:off x="1714500" y="1124098"/>
            <a:ext cx="1047750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Project Outcome &amp; Review</a:t>
            </a:r>
            <a:endParaRPr dirty="0"/>
          </a:p>
        </p:txBody>
      </p:sp>
      <p:sp>
        <p:nvSpPr>
          <p:cNvPr id="329" name="Google Shape;329;p24"/>
          <p:cNvSpPr/>
          <p:nvPr/>
        </p:nvSpPr>
        <p:spPr>
          <a:xfrm>
            <a:off x="1333500" y="1124098"/>
            <a:ext cx="76200" cy="7542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1333500" y="2335559"/>
            <a:ext cx="10858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robust, compliant, and efficient Digital Front Desk solution.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1764030" y="3714750"/>
            <a:ext cx="21602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Compliances</a:t>
            </a:r>
            <a:endParaRPr lang="en-US" dirty="0"/>
          </a:p>
        </p:txBody>
      </p:sp>
      <p:sp>
        <p:nvSpPr>
          <p:cNvPr id="334" name="Google Shape;334;p24"/>
          <p:cNvSpPr txBox="1"/>
          <p:nvPr/>
        </p:nvSpPr>
        <p:spPr>
          <a:xfrm>
            <a:off x="4917122" y="3714750"/>
            <a:ext cx="27303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Operational Efficiency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9CCADF-6F48-400F-1CD9-E2C6B76A8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655" y="371475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81E6C3-5FB7-3BA2-A415-4C8827A46B3F}"/>
              </a:ext>
            </a:extLst>
          </p:cNvPr>
          <p:cNvSpPr txBox="1"/>
          <p:nvPr/>
        </p:nvSpPr>
        <p:spPr>
          <a:xfrm>
            <a:off x="8659575" y="3675786"/>
            <a:ext cx="3291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lang="en-US" sz="18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AF6931C-DB63-493F-410A-4CDB92F3D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350" y="3707703"/>
            <a:ext cx="27622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8D69227-0822-6171-936E-0139EFABF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074" y="3732252"/>
            <a:ext cx="27622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98545-C4C9-8E7D-A7A1-E3245019D9E0}"/>
              </a:ext>
            </a:extLst>
          </p:cNvPr>
          <p:cNvSpPr txBox="1"/>
          <p:nvPr/>
        </p:nvSpPr>
        <p:spPr>
          <a:xfrm>
            <a:off x="8659575" y="4006153"/>
            <a:ext cx="3024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0" i="0" u="none" strike="noStrike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Modular, Scalable, and API-Driven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14AB6-881F-FC5D-848F-A624B65A993F}"/>
              </a:ext>
            </a:extLst>
          </p:cNvPr>
          <p:cNvSpPr txBox="1"/>
          <p:nvPr/>
        </p:nvSpPr>
        <p:spPr>
          <a:xfrm>
            <a:off x="4825209" y="3996629"/>
            <a:ext cx="32912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>
                <a:solidFill>
                  <a:srgbClr val="64748B"/>
                </a:solidFill>
                <a:latin typeface="Lato" panose="020F0502020204030203" pitchFamily="34" charset="0"/>
              </a:rPr>
              <a:t>Automated Workflow &amp; Low Latency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35FD9-CB72-E6FF-B558-85167516AB09}"/>
              </a:ext>
            </a:extLst>
          </p:cNvPr>
          <p:cNvSpPr txBox="1"/>
          <p:nvPr/>
        </p:nvSpPr>
        <p:spPr>
          <a:xfrm>
            <a:off x="1698544" y="4006154"/>
            <a:ext cx="3024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0" i="0" u="none" strike="noStrike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Future- Ready Standards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/>
          <p:nvPr/>
        </p:nvSpPr>
        <p:spPr>
          <a:xfrm>
            <a:off x="1333500" y="3081337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1333500" y="4064198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2428875" y="4216598"/>
            <a:ext cx="8429625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75" b="0" i="0" u="none" strike="noStrike" cap="none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846C0-ED77-409F-A99A-A31E72D3C4AF}"/>
              </a:ext>
            </a:extLst>
          </p:cNvPr>
          <p:cNvSpPr txBox="1"/>
          <p:nvPr/>
        </p:nvSpPr>
        <p:spPr>
          <a:xfrm>
            <a:off x="3775075" y="1815262"/>
            <a:ext cx="5375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5400" b="1" i="0" u="none" strike="noStrike" dirty="0">
                <a:solidFill>
                  <a:srgbClr val="0369A1"/>
                </a:solidFill>
                <a:effectLst/>
                <a:latin typeface="Montserrat" panose="00000500000000000000" pitchFamily="2" charset="0"/>
              </a:rPr>
              <a:t>THANK YOU</a:t>
            </a:r>
            <a:endParaRPr lang="en-IN" sz="5400" b="0" dirty="0">
              <a:effectLst/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FDDA1-4000-2743-A7D7-71A7EAFA549B}"/>
              </a:ext>
            </a:extLst>
          </p:cNvPr>
          <p:cNvSpPr txBox="1"/>
          <p:nvPr/>
        </p:nvSpPr>
        <p:spPr>
          <a:xfrm>
            <a:off x="5438774" y="3352464"/>
            <a:ext cx="2409825" cy="39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Widescreen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Lato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Raktimranjan Handique</cp:lastModifiedBy>
  <cp:revision>1</cp:revision>
  <dcterms:modified xsi:type="dcterms:W3CDTF">2025-11-24T09:12:52Z</dcterms:modified>
</cp:coreProperties>
</file>