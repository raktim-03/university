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Poppins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8ED40A-B548-496F-B19E-093D507990CA}">
  <a:tblStyle styleId="{D48ED40A-B548-496F-B19E-093D507990C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3.png"/><Relationship Id="rId6" Type="http://schemas.openxmlformats.org/officeDocument/2006/relationships/image" Target="../media/image35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11" Type="http://schemas.openxmlformats.org/officeDocument/2006/relationships/image" Target="../media/image17.png"/><Relationship Id="rId10" Type="http://schemas.openxmlformats.org/officeDocument/2006/relationships/image" Target="../media/image13.png"/><Relationship Id="rId9" Type="http://schemas.openxmlformats.org/officeDocument/2006/relationships/image" Target="../media/image8.png"/><Relationship Id="rId5" Type="http://schemas.openxmlformats.org/officeDocument/2006/relationships/image" Target="../media/image32.png"/><Relationship Id="rId6" Type="http://schemas.openxmlformats.org/officeDocument/2006/relationships/image" Target="../media/image14.png"/><Relationship Id="rId7" Type="http://schemas.openxmlformats.org/officeDocument/2006/relationships/image" Target="../media/image9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39.png"/><Relationship Id="rId5" Type="http://schemas.openxmlformats.org/officeDocument/2006/relationships/image" Target="../media/image12.png"/><Relationship Id="rId6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34.png"/><Relationship Id="rId11" Type="http://schemas.openxmlformats.org/officeDocument/2006/relationships/image" Target="../media/image42.png"/><Relationship Id="rId10" Type="http://schemas.openxmlformats.org/officeDocument/2006/relationships/image" Target="../media/image29.png"/><Relationship Id="rId12" Type="http://schemas.openxmlformats.org/officeDocument/2006/relationships/image" Target="../media/image23.png"/><Relationship Id="rId9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4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33.png"/><Relationship Id="rId13" Type="http://schemas.openxmlformats.org/officeDocument/2006/relationships/image" Target="../media/image31.png"/><Relationship Id="rId1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9" Type="http://schemas.openxmlformats.org/officeDocument/2006/relationships/image" Target="../media/image36.png"/><Relationship Id="rId5" Type="http://schemas.openxmlformats.org/officeDocument/2006/relationships/image" Target="../media/image25.png"/><Relationship Id="rId6" Type="http://schemas.openxmlformats.org/officeDocument/2006/relationships/image" Target="../media/image37.png"/><Relationship Id="rId7" Type="http://schemas.openxmlformats.org/officeDocument/2006/relationships/image" Target="../media/image58.png"/><Relationship Id="rId8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9" Type="http://schemas.openxmlformats.org/officeDocument/2006/relationships/image" Target="../media/image53.png"/><Relationship Id="rId5" Type="http://schemas.openxmlformats.org/officeDocument/2006/relationships/image" Target="../media/image44.png"/><Relationship Id="rId6" Type="http://schemas.openxmlformats.org/officeDocument/2006/relationships/image" Target="../media/image57.png"/><Relationship Id="rId7" Type="http://schemas.openxmlformats.org/officeDocument/2006/relationships/image" Target="../media/image41.png"/><Relationship Id="rId8" Type="http://schemas.openxmlformats.org/officeDocument/2006/relationships/image" Target="../media/image6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39.png"/><Relationship Id="rId5" Type="http://schemas.openxmlformats.org/officeDocument/2006/relationships/image" Target="../media/image59.png"/><Relationship Id="rId6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49.png"/><Relationship Id="rId5" Type="http://schemas.openxmlformats.org/officeDocument/2006/relationships/image" Target="../media/image5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Relationship Id="rId6" Type="http://schemas.openxmlformats.org/officeDocument/2006/relationships/image" Target="../media/image54.png"/><Relationship Id="rId7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760458" y="1755427"/>
            <a:ext cx="867108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DIGITAL FRONT DESK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966912" y="2631727"/>
            <a:ext cx="82581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Modernizing Patient Management for Hospitals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Software Engineering (CO311)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66912" y="3866108"/>
            <a:ext cx="82581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3A7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Team: CSB23010 | CSB23012 | CSB23016 | CSB23017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966912" y="4685258"/>
            <a:ext cx="8258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25th </a:t>
            </a:r>
            <a:r>
              <a:rPr b="0" i="0" lang="en-US" sz="13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November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9545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954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333500" y="1847850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A digital solution that replaces slow, manual front-desk workflows.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333500" y="2708671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Handles registration, appointments, token system, billing, and insurance.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333500" y="3569493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Designed for private hospitals in India following NDHM/ABDM standards.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333500" y="4430315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Integrates with HIS, LIS, Pharmacy, and Payment Gateway.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188595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746771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3607593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446841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047750" y="2753022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Fragmented Workflows: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Disconnect between reception, doctors, and billing.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047750" y="3278683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High Error Rate: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Manual data entry leads to clerical errors and duplicate records.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047750" y="3804344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Long Wait Times: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Inefficient queuing reduces patient satisfaction.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47750" y="4330005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Compliance Issues: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Difficult to maintain NDHM/ABDM compliance with paper records.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47750" y="4855666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Lack of Automation: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No automated insurance checks or digital consent processes.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112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16783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42444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6810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9376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9545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954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1333500" y="1847850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Centralized, web-based front-desk module.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333500" y="2373510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Real-time queue and token management.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333500" y="2899171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Automated appointment creation &amp; check-ins.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333500" y="3424832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Integrated ABHA/Insurance verification.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333500" y="3950493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SMS/WhatsApp notifications for tokens &amp; updates.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333500" y="4811315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Syncs with HIS, LIS, Pharmacy, Billing modules.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18859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41161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2937271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250" y="346293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7250" y="3988593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7250" y="484941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Our Solution: Digital Front Desk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95450"/>
            <a:ext cx="5238750" cy="459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95450"/>
            <a:ext cx="5238750" cy="459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857250" y="1981200"/>
            <a:ext cx="49006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Purpose &amp; Scope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57250" y="2447925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Purpose: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Define functional &amp; non-functional requirements for the system.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57250" y="3261121"/>
            <a:ext cx="46672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Scope: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Covers Registration, OPD/IPD Appointments, Queue Management, Billing, Insurance, and Patient Notifications.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667500" y="1981200"/>
            <a:ext cx="49006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Actors &amp; Environment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667500" y="2447925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Actors: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Receptionist, Supervisor, HIS Admin, Finance Team.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667500" y="3261121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Environment: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Web-based UI with backend API services; Integrates with existing HIS/LIS.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667500" y="4074318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Constraints: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Must strictly follow NDHM/ABDM &amp; NABH guidelines.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038350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2038350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SRS Overview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4943475"/>
            <a:ext cx="35242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81225" y="1938337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1413509" y="2424112"/>
            <a:ext cx="18402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Appt &amp; OPD Mgmt</a:t>
            </a:r>
            <a:endParaRPr/>
          </a:p>
        </p:txBody>
      </p:sp>
      <p:pic>
        <p:nvPicPr>
          <p:cNvPr descr="image.png" id="170" name="Google Shape;17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1687" y="1938337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055870" y="2424112"/>
            <a:ext cx="208026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Patient Registration</a:t>
            </a:r>
            <a:endParaRPr/>
          </a:p>
        </p:txBody>
      </p:sp>
      <p:pic>
        <p:nvPicPr>
          <p:cNvPr descr="image.png" id="172" name="Google Shape;17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44062" y="1938337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9093279" y="2424112"/>
            <a:ext cx="153019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Queue &amp; Token</a:t>
            </a:r>
            <a:endParaRPr/>
          </a:p>
        </p:txBody>
      </p:sp>
      <p:pic>
        <p:nvPicPr>
          <p:cNvPr descr="image.png" id="174" name="Google Shape;17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05037" y="3605212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1518523" y="4090987"/>
            <a:ext cx="163020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Billing Initiation</a:t>
            </a:r>
            <a:endParaRPr/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24550" y="360521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5240893" y="4090987"/>
            <a:ext cx="17102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Insurance Verify</a:t>
            </a:r>
            <a:endParaRPr/>
          </a:p>
        </p:txBody>
      </p:sp>
      <p:pic>
        <p:nvPicPr>
          <p:cNvPr descr="image.png" id="178" name="Google Shape;178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86925" y="360521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8953261" y="4090987"/>
            <a:ext cx="181022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Basic EMR Access</a:t>
            </a:r>
            <a:endParaRPr/>
          </a:p>
        </p:txBody>
      </p:sp>
      <p:pic>
        <p:nvPicPr>
          <p:cNvPr descr="image.png" id="180" name="Google Shape;180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05037" y="5272087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1478518" y="5757862"/>
            <a:ext cx="17102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Lab &amp; Pharmacy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5580935" y="5757862"/>
            <a:ext cx="10301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Reporting</a:t>
            </a:r>
            <a:endParaRPr/>
          </a:p>
        </p:txBody>
      </p:sp>
      <p:pic>
        <p:nvPicPr>
          <p:cNvPr descr="image.png" id="183" name="Google Shape;183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44062" y="5272087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9003268" y="5757862"/>
            <a:ext cx="17102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Communication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571500" y="485775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Functional Modules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954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571500" y="1695450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System Overview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571500" y="2162175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The Level-0 DFD illustrates the high-level workflow of the Digital Front Desk System.</a:t>
            </a:r>
            <a:endParaRPr/>
          </a:p>
        </p:txBody>
      </p:sp>
      <p:pic>
        <p:nvPicPr>
          <p:cNvPr descr="image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954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733425" y="312872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57250" y="3127771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External Entities: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Patient, HIS Database.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733425" y="360676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57250" y="3605807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Core Process: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The Front Desk System acts as the central processor.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33425" y="441995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57250" y="4419004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Data Flow: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Captures Patient Info → Processes Token/Bill → Syncs with HIS.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Level 0 Data Flow Diagram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954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571500" y="1695450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Process Decomposition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571500" y="2162175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This diagram breaks down the main system into granular sub-processes.</a:t>
            </a:r>
            <a:endParaRPr/>
          </a:p>
        </p:txBody>
      </p:sp>
      <p:pic>
        <p:nvPicPr>
          <p:cNvPr descr="image.png" id="212" name="Google Shape;2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954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733425" y="312872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857250" y="3127771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Registration: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ID Scan, Form Entry, ABHA Check.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33425" y="360676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57250" y="3605807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Token Generation: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Queue Algorithm, Display Update.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33425" y="4084796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857250" y="4083843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Billing: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Service Selection, Payment Gateway, Receipt.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Level 1 Data Flow Diagram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954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571500" y="1695450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System Hierarchy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571500" y="2162175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A visual representation of the system's modular decomposition.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571500" y="2975371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Shows the hierarchy of modules (Root: Main System) down to specific functions (leaf nodes) like 'Print Token' or 'Validate Insurance'.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571500" y="4123729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Highlights the control relationship between the supervisor modules and worker modules.</a:t>
            </a:r>
            <a:endParaRPr/>
          </a:p>
        </p:txBody>
      </p:sp>
      <p:pic>
        <p:nvPicPr>
          <p:cNvPr descr="image.png" id="231" name="Google Shape;23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954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Structure Chart</a:t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954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571500" y="1695450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Database Schema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571500" y="2162175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Defines the logical structure of the database.</a:t>
            </a:r>
            <a:endParaRPr/>
          </a:p>
        </p:txBody>
      </p:sp>
      <p:pic>
        <p:nvPicPr>
          <p:cNvPr descr="image.png"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954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733425" y="2793563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857250" y="279261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Patient: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Stores demographics, ABHA ID (PK).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733425" y="327159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857250" y="3270646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Token: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Links Patient to Queue and Department.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733425" y="374963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57250" y="3748682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Appointment: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Links Patient to Doctor/Resource.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733425" y="422767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857250" y="4226718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Bill: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Transaction details, linked to Encounter.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Entity Relationship Diagram</a:t>
            </a:r>
            <a:endParaRPr/>
          </a:p>
        </p:txBody>
      </p:sp>
      <p:sp>
        <p:nvSpPr>
          <p:cNvPr id="252" name="Google Shape;252;p22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75744"/>
            <a:ext cx="1988790" cy="1211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6515" y="3697634"/>
            <a:ext cx="1988790" cy="967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1530" y="3697634"/>
            <a:ext cx="1988790" cy="967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66545" y="3697634"/>
            <a:ext cx="1988790" cy="967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1560" y="3697634"/>
            <a:ext cx="1988790" cy="96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/>
          <p:nvPr/>
        </p:nvSpPr>
        <p:spPr>
          <a:xfrm>
            <a:off x="571500" y="4162425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741807" y="3785294"/>
            <a:ext cx="164817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Scan ID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781050" y="4090094"/>
            <a:ext cx="156969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Scan Govt ID or ABHA Card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3006822" y="3907184"/>
            <a:ext cx="164817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Create MRN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3046065" y="4211984"/>
            <a:ext cx="156969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Sync Profile with HIS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5271838" y="3907184"/>
            <a:ext cx="164817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Token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5311080" y="4211984"/>
            <a:ext cx="156969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Generate &amp; Print Token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7536853" y="3907184"/>
            <a:ext cx="164817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Display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7576095" y="4211984"/>
            <a:ext cx="156969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Update Queue Screen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9801868" y="3907184"/>
            <a:ext cx="164817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Notify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9841110" y="4211984"/>
            <a:ext cx="156969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Send SMS Confirmation</a:t>
            </a:r>
            <a:endParaRPr/>
          </a:p>
        </p:txBody>
      </p:sp>
      <p:pic>
        <p:nvPicPr>
          <p:cNvPr descr="image.png" id="274" name="Google Shape;274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22908" y="3832919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168848" y="3954809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00563" y="3954809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898903" y="3954809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49644" y="395480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Primary Workflow (Walk-in Patient)</a:t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45308"/>
            <a:ext cx="3492549" cy="2091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945308"/>
            <a:ext cx="3492549" cy="2091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945308"/>
            <a:ext cx="3492549" cy="209133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4"/>
          <p:cNvSpPr txBox="1"/>
          <p:nvPr/>
        </p:nvSpPr>
        <p:spPr>
          <a:xfrm>
            <a:off x="857250" y="3183433"/>
            <a:ext cx="311710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Security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857250" y="3650158"/>
            <a:ext cx="2968674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TLS 1.2+ encryption, Role-Based Access Control (RBAC), and comprehensive Audit Logs.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4635549" y="3183433"/>
            <a:ext cx="311710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Performance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4635549" y="3650158"/>
            <a:ext cx="2968674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Token generation and display updates must occur in under 2 seconds.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8413849" y="3183433"/>
            <a:ext cx="311710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Availability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8413849" y="3650158"/>
            <a:ext cx="2968674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99.5% system uptime guarantee to ensure 24/7 hospital operations.</a:t>
            </a:r>
            <a:endParaRPr/>
          </a:p>
        </p:txBody>
      </p:sp>
      <p:pic>
        <p:nvPicPr>
          <p:cNvPr descr="image.png" id="295" name="Google Shape;29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3240583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3240583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3240583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4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Non-Functional Requirements</a:t>
            </a:r>
            <a:endParaRPr/>
          </a:p>
        </p:txBody>
      </p:sp>
      <p:sp>
        <p:nvSpPr>
          <p:cNvPr id="299" name="Google Shape;299;p2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5" name="Google Shape;305;p25"/>
          <p:cNvGraphicFramePr/>
          <p:nvPr/>
        </p:nvGraphicFramePr>
        <p:xfrm>
          <a:off x="2819400" y="26480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{D48ED40A-B548-496F-B19E-093D507990CA}</a:tableStyleId>
              </a:tblPr>
              <a:tblGrid>
                <a:gridCol w="771525"/>
                <a:gridCol w="1676400"/>
                <a:gridCol w="4105275"/>
              </a:tblGrid>
              <a:tr h="53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 Scenario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Acceptance Criteria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73"/>
                    </a:solidFill>
                  </a:tcPr>
                </a:tc>
              </a:tr>
              <a:tr h="53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TC-001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Register New Patient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MRN syncs to HIS database within 5 seconds.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TC-002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Issue Queue Token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Token number appears on lobby display board &lt; 2 seconds.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53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TC-003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ABHA Validation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System returns meaningful error message if API is down.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TC-004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Billing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Payment status updates in HIS immediately after success.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306" name="Google Shape;306;p25"/>
          <p:cNvSpPr/>
          <p:nvPr/>
        </p:nvSpPr>
        <p:spPr>
          <a:xfrm>
            <a:off x="2819400" y="3702397"/>
            <a:ext cx="77152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3590925" y="3702397"/>
            <a:ext cx="1676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5267325" y="3702397"/>
            <a:ext cx="410527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2819400" y="4241452"/>
            <a:ext cx="77152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3590925" y="4241452"/>
            <a:ext cx="1676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5267325" y="4241452"/>
            <a:ext cx="410527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2819400" y="4780508"/>
            <a:ext cx="77152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3590925" y="4780508"/>
            <a:ext cx="1676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5267325" y="4780508"/>
            <a:ext cx="410527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2819400" y="5319563"/>
            <a:ext cx="77152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3590925" y="5319563"/>
            <a:ext cx="1676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5267325" y="5319563"/>
            <a:ext cx="410527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Testing &amp; Validation</a:t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95450"/>
            <a:ext cx="5238750" cy="459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95450"/>
            <a:ext cx="5238750" cy="459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6"/>
          <p:cNvSpPr txBox="1"/>
          <p:nvPr/>
        </p:nvSpPr>
        <p:spPr>
          <a:xfrm>
            <a:off x="857250" y="1981200"/>
            <a:ext cx="49006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Limitations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6667500" y="1981200"/>
            <a:ext cx="49006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Future Scope</a:t>
            </a:r>
            <a:endParaRPr/>
          </a:p>
        </p:txBody>
      </p:sp>
      <p:pic>
        <p:nvPicPr>
          <p:cNvPr descr="image.png" id="329" name="Google Shape;32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03835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6"/>
          <p:cNvSpPr txBox="1"/>
          <p:nvPr/>
        </p:nvSpPr>
        <p:spPr>
          <a:xfrm>
            <a:off x="1019175" y="250602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1143000" y="2505075"/>
            <a:ext cx="438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Heavy dependency on HIS connectivity; offline mode is limited.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1019175" y="331922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1143000" y="3318271"/>
            <a:ext cx="438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External API failures (Insurance/ABHA) may delay check-in.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1019175" y="413242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1143000" y="4131468"/>
            <a:ext cx="438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Requires initial hardware setup (scanners, printers, kiosks).</a:t>
            </a:r>
            <a:endParaRPr/>
          </a:p>
        </p:txBody>
      </p:sp>
      <p:pic>
        <p:nvPicPr>
          <p:cNvPr descr="image.png" id="336" name="Google Shape;33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203835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6"/>
          <p:cNvSpPr txBox="1"/>
          <p:nvPr/>
        </p:nvSpPr>
        <p:spPr>
          <a:xfrm>
            <a:off x="6829425" y="250602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6953250" y="2505075"/>
            <a:ext cx="438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AI Queue Prediction: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Suggest best arrival times.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6829425" y="331922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6953250" y="3318271"/>
            <a:ext cx="438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Self-Check-in Kiosks: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Hardware integration.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6829425" y="379726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6953250" y="3796307"/>
            <a:ext cx="438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Chatbot: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WhatsApp-based appointment booking.</a:t>
            </a:r>
            <a:endParaRPr/>
          </a:p>
        </p:txBody>
      </p:sp>
      <p:sp>
        <p:nvSpPr>
          <p:cNvPr id="343" name="Google Shape;343;p26"/>
          <p:cNvSpPr txBox="1"/>
          <p:nvPr/>
        </p:nvSpPr>
        <p:spPr>
          <a:xfrm>
            <a:off x="6829425" y="461045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4" name="Google Shape;344;p26"/>
          <p:cNvSpPr txBox="1"/>
          <p:nvPr/>
        </p:nvSpPr>
        <p:spPr>
          <a:xfrm>
            <a:off x="6953250" y="4609504"/>
            <a:ext cx="438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Indoor Navigation:</a:t>
            </a: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Guide patients to rooms via app.</a:t>
            </a:r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Limitations &amp; Future Scope</a:t>
            </a:r>
            <a:endParaRPr/>
          </a:p>
        </p:txBody>
      </p:sp>
      <p:sp>
        <p:nvSpPr>
          <p:cNvPr id="346" name="Google Shape;346;p2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7"/>
          <p:cNvSpPr txBox="1"/>
          <p:nvPr/>
        </p:nvSpPr>
        <p:spPr>
          <a:xfrm>
            <a:off x="4475797" y="1229022"/>
            <a:ext cx="324040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53" name="Google Shape;353;p27"/>
          <p:cNvSpPr txBox="1"/>
          <p:nvPr/>
        </p:nvSpPr>
        <p:spPr>
          <a:xfrm>
            <a:off x="4315777" y="5295602"/>
            <a:ext cx="35604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Thank You — Any Questions?</a:t>
            </a:r>
            <a:endParaRPr/>
          </a:p>
        </p:txBody>
      </p:sp>
      <p:sp>
        <p:nvSpPr>
          <p:cNvPr id="354" name="Google Shape;354;p27"/>
          <p:cNvSpPr txBox="1"/>
          <p:nvPr/>
        </p:nvSpPr>
        <p:spPr>
          <a:xfrm>
            <a:off x="3048000" y="2381547"/>
            <a:ext cx="6858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The Digital Front Desk System effectively modernizes hospital reception operations.</a:t>
            </a:r>
            <a:endParaRPr/>
          </a:p>
        </p:txBody>
      </p:sp>
      <p:sp>
        <p:nvSpPr>
          <p:cNvPr id="355" name="Google Shape;355;p27"/>
          <p:cNvSpPr txBox="1"/>
          <p:nvPr/>
        </p:nvSpPr>
        <p:spPr>
          <a:xfrm>
            <a:off x="3048000" y="3242369"/>
            <a:ext cx="685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Ensures operational efficiency, data accuracy, and improved patient flow.</a:t>
            </a:r>
            <a:endParaRPr/>
          </a:p>
        </p:txBody>
      </p:sp>
      <p:sp>
        <p:nvSpPr>
          <p:cNvPr id="356" name="Google Shape;356;p27"/>
          <p:cNvSpPr txBox="1"/>
          <p:nvPr/>
        </p:nvSpPr>
        <p:spPr>
          <a:xfrm>
            <a:off x="3048000" y="3768030"/>
            <a:ext cx="685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Seamlessly integrates with existing HIS, LIS, and NDHM ecosystems.</a:t>
            </a:r>
            <a:endParaRPr/>
          </a:p>
        </p:txBody>
      </p:sp>
      <p:sp>
        <p:nvSpPr>
          <p:cNvPr id="357" name="Google Shape;357;p27"/>
          <p:cNvSpPr txBox="1"/>
          <p:nvPr/>
        </p:nvSpPr>
        <p:spPr>
          <a:xfrm>
            <a:off x="3048000" y="4293691"/>
            <a:ext cx="685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Scalable design ready for future AI and IoT enhancements.</a:t>
            </a:r>
            <a:endParaRPr/>
          </a:p>
        </p:txBody>
      </p:sp>
      <p:pic>
        <p:nvPicPr>
          <p:cNvPr descr="image.png" id="358" name="Google Shape;35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1750" y="241964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1750" y="3280469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71750" y="380613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71750" y="433179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6" name="Google Shape;36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8"/>
          <p:cNvSpPr/>
          <p:nvPr/>
        </p:nvSpPr>
        <p:spPr>
          <a:xfrm>
            <a:off x="571500" y="33004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8"/>
          <p:cNvSpPr/>
          <p:nvPr/>
        </p:nvSpPr>
        <p:spPr>
          <a:xfrm>
            <a:off x="571500" y="40851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8"/>
          <p:cNvSpPr/>
          <p:nvPr/>
        </p:nvSpPr>
        <p:spPr>
          <a:xfrm>
            <a:off x="571500" y="486995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0" name="Google Shape;37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56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8"/>
          <p:cNvSpPr txBox="1"/>
          <p:nvPr/>
        </p:nvSpPr>
        <p:spPr>
          <a:xfrm>
            <a:off x="1666875" y="246995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https://static.vecteezy.com/system/resources/previews/022/400/488/large_2x/luxury-and-minimalist-hospital-reception-counter-area-generative-ai-digital-art-illustration-photo.jpeg</a:t>
            </a:r>
            <a:endParaRPr/>
          </a:p>
        </p:txBody>
      </p:sp>
      <p:sp>
        <p:nvSpPr>
          <p:cNvPr id="372" name="Google Shape;372;p28"/>
          <p:cNvSpPr txBox="1"/>
          <p:nvPr/>
        </p:nvSpPr>
        <p:spPr>
          <a:xfrm>
            <a:off x="1666875" y="291375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373" name="Google Shape;37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593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8"/>
          <p:cNvSpPr txBox="1"/>
          <p:nvPr/>
        </p:nvSpPr>
        <p:spPr>
          <a:xfrm>
            <a:off x="1666875" y="345281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https://www.aimprosoft.com/wp-content/webp-express/webp-images/doc-root/wp-content/uploads/2020/06/Example-of-a-hospital-management-system-interface-2-1.png.webp</a:t>
            </a:r>
            <a:endParaRPr/>
          </a:p>
        </p:txBody>
      </p:sp>
      <p:sp>
        <p:nvSpPr>
          <p:cNvPr id="375" name="Google Shape;375;p28"/>
          <p:cNvSpPr txBox="1"/>
          <p:nvPr/>
        </p:nvSpPr>
        <p:spPr>
          <a:xfrm>
            <a:off x="1666875" y="369852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www.aimprosoft.com</a:t>
            </a:r>
            <a:endParaRPr/>
          </a:p>
        </p:txBody>
      </p:sp>
      <p:pic>
        <p:nvPicPr>
          <p:cNvPr descr="image.png" id="376" name="Google Shape;37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441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8"/>
          <p:cNvSpPr txBox="1"/>
          <p:nvPr/>
        </p:nvSpPr>
        <p:spPr>
          <a:xfrm>
            <a:off x="1666875" y="423758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https://www-cms.pipedriveassets.com/cdn-cgi/image/quality=70,format=auto/https://www-cms.pipedriveassets.com/data-flow-diagram-Pipedrive-sales-funnel.png</a:t>
            </a:r>
            <a:endParaRPr/>
          </a:p>
        </p:txBody>
      </p:sp>
      <p:sp>
        <p:nvSpPr>
          <p:cNvPr id="378" name="Google Shape;378;p28"/>
          <p:cNvSpPr txBox="1"/>
          <p:nvPr/>
        </p:nvSpPr>
        <p:spPr>
          <a:xfrm>
            <a:off x="1666875" y="448329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www.pipedrive.com</a:t>
            </a:r>
            <a:endParaRPr/>
          </a:p>
        </p:txBody>
      </p:sp>
      <p:pic>
        <p:nvPicPr>
          <p:cNvPr descr="image.png" id="379" name="Google Shape;379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2890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8"/>
          <p:cNvSpPr txBox="1"/>
          <p:nvPr/>
        </p:nvSpPr>
        <p:spPr>
          <a:xfrm>
            <a:off x="1666875" y="502235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https://landing.moqups.com/img/_optimized/templates/diagrams/erd/database-diagram/database-diagram-1600-w400.jpeg</a:t>
            </a:r>
            <a:endParaRPr/>
          </a:p>
        </p:txBody>
      </p:sp>
      <p:sp>
        <p:nvSpPr>
          <p:cNvPr id="381" name="Google Shape;381;p28"/>
          <p:cNvSpPr txBox="1"/>
          <p:nvPr/>
        </p:nvSpPr>
        <p:spPr>
          <a:xfrm>
            <a:off x="1666875" y="526806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moqups.com</a:t>
            </a:r>
            <a:endParaRPr/>
          </a:p>
        </p:txBody>
      </p:sp>
      <p:sp>
        <p:nvSpPr>
          <p:cNvPr id="382" name="Google Shape;382;p28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83" name="Google Shape;383;p28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